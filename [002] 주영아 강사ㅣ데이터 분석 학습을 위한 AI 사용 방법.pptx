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66" r:id="rId2"/>
    <p:sldId id="263" r:id="rId3"/>
    <p:sldId id="257" r:id="rId4"/>
    <p:sldId id="264" r:id="rId5"/>
    <p:sldId id="265" r:id="rId6"/>
    <p:sldId id="262" r:id="rId7"/>
    <p:sldId id="258" r:id="rId8"/>
    <p:sldId id="260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776"/>
    <a:srgbClr val="F0F7FF"/>
    <a:srgbClr val="8F6D12"/>
    <a:srgbClr val="FFC112"/>
    <a:srgbClr val="FFEDD8"/>
    <a:srgbClr val="0070C0"/>
    <a:srgbClr val="065F46"/>
    <a:srgbClr val="CBD6E2"/>
    <a:srgbClr val="3498DB"/>
    <a:srgbClr val="FFF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07"/>
    <p:restoredTop sz="96445" autoAdjust="0"/>
  </p:normalViewPr>
  <p:slideViewPr>
    <p:cSldViewPr snapToGrid="0">
      <p:cViewPr varScale="1">
        <p:scale>
          <a:sx n="123" d="100"/>
          <a:sy n="123" d="100"/>
        </p:scale>
        <p:origin x="12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6F8024-5EF5-DC4C-B678-F1120E0F2A5F}" type="datetimeFigureOut">
              <a:rPr kumimoji="1" lang="ko-KR" altLang="en-US" smtClean="0"/>
              <a:t>2026. 9. 9.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F87B27-57CD-B642-A654-997A2EB4817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93396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한 번 설정해두면 이후 모든 대화에 자동 적용되고, 프로젝트별로 다른 지침을 걸 수도 있다. ChatGPT 맞춤 설정은 칸당 1,500자라 2,900자짜리 본문이 한 칸에 들어가지 않는다 — 두 칸에 나눠 넣거나 프로젝트 지침을 쓴다. 대화가 길어지면 챗봇이 지침 뒤쪽부터 흘리므로, 답이 지침을 벗어나면 새 대화를 여는 편이 빠르다.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장은 낭독하지 않는다. 배포 파일을 열어 지금 각자 설정해 보라고 안내하고 실습 시간을 3분 준다. 지침 본문은 한 글자도 고치지 말고 그대로 붙여 넣게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‘[제약] 쿼리문은 주지 말 것’ 한 줄이 이 수업 프롬프트의 핵심이다. 지침을 걸어뒀더라도 프롬프트에서 한 번 더 못박으면 확실하다. 영역을 밝히지 않으면 SQL 질문에 판다스로 답하는 식으로 어긋난다. 대화형의 장점은 되묻기라는 점도 함께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5번은 학생들이 잘 모르는 실패 모드다. 내가 원하는 결론을 흘리면 그쪽에 맞춘 근거가 돌아온다. 지침은 ‘추론하지 마’가 아니라 ‘추론임을 표시해’로 걸어둔다 — 추론 자체는 정상 작업이다. 대화가 길어지면 챗봇이 지침 뒤쪽부터 흘리므로, 고쳐 쓰라고 하지 말고 새 대화를 여는 편이 빠르다.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">
            <a:extLst>
              <a:ext uri="{FF2B5EF4-FFF2-40B4-BE49-F238E27FC236}">
                <a16:creationId xmlns:a16="http://schemas.microsoft.com/office/drawing/2014/main" id="{B85CB227-4B18-CB15-A9A1-F6D59DFC8851}"/>
              </a:ext>
            </a:extLst>
          </p:cNvPr>
          <p:cNvSpPr/>
          <p:nvPr userDrawn="1"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87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8713876-2D8F-2A48-5CB5-D3C988F51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8099" y="1671305"/>
            <a:ext cx="10452522" cy="170465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lang="ko-KR" altLang="en-US" sz="4800" b="1" i="0" kern="1200" dirty="0">
                <a:solidFill>
                  <a:srgbClr val="FFFFFF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Noto Sans KR" panose="020B0200000000000000" pitchFamily="34" charset="-128"/>
              </a:defRPr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CCE520B-46B7-BD88-7443-40E9605A15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8099" y="3981778"/>
            <a:ext cx="10452522" cy="93634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lang="ko-KR" altLang="en-US" sz="2200" kern="12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 dirty="0"/>
              <a:t>클릭하여 마스터 부제목 스타일 편집</a:t>
            </a:r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42F65DD5-E445-A4E0-211D-52F71FA12E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384" b="-384"/>
          <a:stretch/>
        </p:blipFill>
        <p:spPr>
          <a:xfrm>
            <a:off x="914400" y="3642970"/>
            <a:ext cx="952805" cy="38405"/>
          </a:xfrm>
          <a:prstGeom prst="rect">
            <a:avLst/>
          </a:prstGeom>
        </p:spPr>
      </p:pic>
      <p:sp>
        <p:nvSpPr>
          <p:cNvPr id="13" name="Shape 9">
            <a:extLst>
              <a:ext uri="{FF2B5EF4-FFF2-40B4-BE49-F238E27FC236}">
                <a16:creationId xmlns:a16="http://schemas.microsoft.com/office/drawing/2014/main" id="{FAE5D59C-0D89-86D6-65EE-423FD67669DF}"/>
              </a:ext>
            </a:extLst>
          </p:cNvPr>
          <p:cNvSpPr/>
          <p:nvPr userDrawn="1"/>
        </p:nvSpPr>
        <p:spPr>
          <a:xfrm>
            <a:off x="914400" y="5243170"/>
            <a:ext cx="10362895" cy="9144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8021AB4-58CF-A1DC-BA28-136546769813}"/>
              </a:ext>
            </a:extLst>
          </p:cNvPr>
          <p:cNvSpPr/>
          <p:nvPr userDrawn="1"/>
        </p:nvSpPr>
        <p:spPr>
          <a:xfrm>
            <a:off x="8128102" y="6705295"/>
            <a:ext cx="4067251" cy="152705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932E8409-30B5-BD3F-E942-F6E5061C72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80000"/>
          </a:blip>
          <a:srcRect l="-196" r="-196"/>
          <a:stretch/>
        </p:blipFill>
        <p:spPr>
          <a:xfrm>
            <a:off x="9144000" y="6629400"/>
            <a:ext cx="3047695" cy="75895"/>
          </a:xfrm>
          <a:prstGeom prst="rect">
            <a:avLst/>
          </a:prstGeom>
        </p:spPr>
      </p:pic>
      <p:sp>
        <p:nvSpPr>
          <p:cNvPr id="19" name="Text 11">
            <a:extLst>
              <a:ext uri="{FF2B5EF4-FFF2-40B4-BE49-F238E27FC236}">
                <a16:creationId xmlns:a16="http://schemas.microsoft.com/office/drawing/2014/main" id="{0603E8AF-9112-EF10-57F3-4A0D9A34E75E}"/>
              </a:ext>
            </a:extLst>
          </p:cNvPr>
          <p:cNvSpPr txBox="1"/>
          <p:nvPr userDrawn="1"/>
        </p:nvSpPr>
        <p:spPr>
          <a:xfrm>
            <a:off x="914399" y="5523938"/>
            <a:ext cx="178770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Spring Semester 2026</a:t>
            </a:r>
            <a:endParaRPr lang="en-US" sz="1300" dirty="0"/>
          </a:p>
        </p:txBody>
      </p:sp>
      <p:sp>
        <p:nvSpPr>
          <p:cNvPr id="4" name="Text 13">
            <a:extLst>
              <a:ext uri="{FF2B5EF4-FFF2-40B4-BE49-F238E27FC236}">
                <a16:creationId xmlns:a16="http://schemas.microsoft.com/office/drawing/2014/main" id="{1108C810-8434-A04A-3C02-B4D84144E07B}"/>
              </a:ext>
            </a:extLst>
          </p:cNvPr>
          <p:cNvSpPr txBox="1"/>
          <p:nvPr userDrawn="1"/>
        </p:nvSpPr>
        <p:spPr>
          <a:xfrm>
            <a:off x="9353905" y="499373"/>
            <a:ext cx="23692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defTabSz="914400" rtl="0" eaLnBrk="1" latinLnBrk="1" hangingPunct="1">
              <a:buNone/>
            </a:pPr>
            <a:r>
              <a:rPr lang="en-US" sz="1300" kern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JU, YOUNG-A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8D4D14-48E7-F25D-B316-2CF54E6334B1}"/>
              </a:ext>
            </a:extLst>
          </p:cNvPr>
          <p:cNvSpPr txBox="1"/>
          <p:nvPr userDrawn="1"/>
        </p:nvSpPr>
        <p:spPr>
          <a:xfrm>
            <a:off x="468885" y="462826"/>
            <a:ext cx="33858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1400" b="1" dirty="0" err="1">
                <a:solidFill>
                  <a:schemeClr val="bg1"/>
                </a:solidFill>
                <a:effectLst/>
                <a:latin typeface="Noto Sans KR" panose="020B0200000000000000" pitchFamily="34" charset="-128"/>
                <a:ea typeface="Noto Sans KR" panose="020B0200000000000000" pitchFamily="34" charset="-128"/>
              </a:rPr>
              <a:t>아이티윌</a:t>
            </a:r>
            <a:r>
              <a:rPr kumimoji="1" lang="ko-KR" altLang="en-US" sz="1400" b="1" dirty="0">
                <a:solidFill>
                  <a:schemeClr val="bg1"/>
                </a:solidFill>
                <a:effectLst/>
                <a:latin typeface="Noto Sans KR" panose="020B0200000000000000" pitchFamily="34" charset="-128"/>
                <a:ea typeface="Noto Sans KR" panose="020B0200000000000000" pitchFamily="34" charset="-128"/>
              </a:rPr>
              <a:t> </a:t>
            </a:r>
            <a:r>
              <a:rPr kumimoji="1" lang="ko-KR" altLang="en-US" sz="1400" b="1" dirty="0" err="1">
                <a:solidFill>
                  <a:schemeClr val="bg1"/>
                </a:solidFill>
                <a:effectLst/>
                <a:latin typeface="Noto Sans KR" panose="020B0200000000000000" pitchFamily="34" charset="-128"/>
                <a:ea typeface="Noto Sans KR" panose="020B0200000000000000" pitchFamily="34" charset="-128"/>
              </a:rPr>
              <a:t>ㅣ</a:t>
            </a:r>
            <a:r>
              <a:rPr kumimoji="1" lang="ko-KR" altLang="en-US" sz="1400" b="1" dirty="0">
                <a:solidFill>
                  <a:schemeClr val="bg1"/>
                </a:solidFill>
                <a:effectLst/>
                <a:latin typeface="Noto Sans KR" panose="020B0200000000000000" pitchFamily="34" charset="-128"/>
                <a:ea typeface="Noto Sans KR" panose="020B0200000000000000" pitchFamily="34" charset="-128"/>
              </a:rPr>
              <a:t> </a:t>
            </a:r>
            <a:r>
              <a:rPr kumimoji="1" lang="ko-KR" altLang="en-US" sz="1400" b="1" dirty="0" err="1">
                <a:solidFill>
                  <a:schemeClr val="bg1"/>
                </a:solidFill>
                <a:effectLst/>
                <a:latin typeface="Noto Sans KR" panose="020B0200000000000000" pitchFamily="34" charset="-128"/>
                <a:ea typeface="Noto Sans KR" panose="020B0200000000000000" pitchFamily="34" charset="-128"/>
              </a:rPr>
              <a:t>머신러닝</a:t>
            </a:r>
            <a:r>
              <a:rPr kumimoji="1" lang="ko-KR" altLang="en-US" sz="1400" b="1" dirty="0">
                <a:solidFill>
                  <a:schemeClr val="bg1"/>
                </a:solidFill>
                <a:effectLst/>
                <a:latin typeface="Noto Sans KR" panose="020B0200000000000000" pitchFamily="34" charset="-128"/>
                <a:ea typeface="Noto Sans KR" panose="020B0200000000000000" pitchFamily="34" charset="-128"/>
              </a:rPr>
              <a:t> 데이터 분석 부트캠프</a:t>
            </a:r>
          </a:p>
        </p:txBody>
      </p:sp>
    </p:spTree>
    <p:extLst>
      <p:ext uri="{BB962C8B-B14F-4D97-AF65-F5344CB8AC3E}">
        <p14:creationId xmlns:p14="http://schemas.microsoft.com/office/powerpoint/2010/main" val="1470641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+소주제+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598C70-CFB6-A4CB-0812-20EF46271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BBC7F9-554D-F732-1528-751D1F54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CB3E6-52AB-D441-8DCF-C23173057FDF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E35395F-844A-095D-52FC-CA1B2B4B77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4518" y="1591200"/>
            <a:ext cx="11409342" cy="395869"/>
          </a:xfrm>
          <a:prstGeom prst="rect">
            <a:avLst/>
          </a:prstGeom>
        </p:spPr>
        <p:txBody>
          <a:bodyPr wrap="square" lIns="216000" tIns="72000">
            <a:spAutoFit/>
          </a:bodyPr>
          <a:lstStyle>
            <a:lvl1pPr marL="52388" indent="0">
              <a:buNone/>
              <a:tabLst/>
              <a:defRPr kumimoji="1" lang="ko-KR" altLang="en-US" sz="2000" b="1" i="0" dirty="0">
                <a:latin typeface="Noto Sans KR SemiBold" panose="020B0200000000000000" pitchFamily="34" charset="-128"/>
                <a:ea typeface="Noto Sans KR SemiBold" panose="020B0200000000000000" pitchFamily="34" charset="-128"/>
              </a:defRPr>
            </a:lvl1pPr>
          </a:lstStyle>
          <a:p>
            <a:pPr marL="7938" lvl="0" indent="0">
              <a:buNone/>
              <a:tabLst/>
            </a:pPr>
            <a:r>
              <a:rPr kumimoji="1" lang="ko-KR" altLang="en-US" dirty="0"/>
              <a:t>마스터 텍스트 스타일을 편집하려면 클릭</a:t>
            </a:r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8B169B4B-E249-7F5D-783C-A1FC4720123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900" y="2101362"/>
            <a:ext cx="11409363" cy="4471335"/>
          </a:xfrm>
          <a:prstGeom prst="rect">
            <a:avLst/>
          </a:prstGeom>
        </p:spPr>
        <p:txBody>
          <a:bodyPr/>
          <a:lstStyle>
            <a:lvl1pPr marL="357188" indent="-304800">
              <a:lnSpc>
                <a:spcPct val="110000"/>
              </a:lnSpc>
              <a:spcBef>
                <a:spcPts val="1200"/>
              </a:spcBef>
              <a:buFontTx/>
              <a:buBlip>
                <a:blip r:embed="rId2"/>
              </a:buBlip>
              <a:tabLst/>
              <a:defRPr kumimoji="1" lang="ko-KR" altLang="en-US" sz="1800" b="0" i="0" kern="1200" dirty="0">
                <a:solidFill>
                  <a:schemeClr val="tx1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+mn-cs"/>
              </a:defRPr>
            </a:lvl1pPr>
            <a:lvl2pPr marL="669925" indent="-268288">
              <a:lnSpc>
                <a:spcPct val="100000"/>
              </a:lnSpc>
              <a:spcBef>
                <a:spcPts val="600"/>
              </a:spcBef>
              <a:buFontTx/>
              <a:buBlip>
                <a:blip r:embed="rId3"/>
              </a:buBlip>
              <a:tabLst/>
              <a:defRPr kumimoji="1" lang="ko-KR" altLang="en-US" sz="1600" b="0" i="0" kern="1200" dirty="0">
                <a:solidFill>
                  <a:schemeClr val="tx1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+mn-cs"/>
              </a:defRPr>
            </a:lvl2pPr>
            <a:lvl3pPr marL="892175" indent="-227013">
              <a:lnSpc>
                <a:spcPct val="100000"/>
              </a:lnSpc>
              <a:buFont typeface="시스템 서체 일반체"/>
              <a:buChar char="○"/>
              <a:tabLst/>
              <a:defRPr sz="1400" b="0" i="0">
                <a:latin typeface="Noto Sans KR Light" panose="020B0200000000000000" pitchFamily="34" charset="-128"/>
                <a:ea typeface="Noto Sans KR Light" panose="020B0200000000000000" pitchFamily="34" charset="-128"/>
              </a:defRPr>
            </a:lvl3pPr>
            <a:lvl4pPr marL="1200150" indent="-227013">
              <a:tabLst/>
              <a:defRPr sz="1200" b="0" i="0">
                <a:latin typeface="Noto Sans KR Light" panose="020B0200000000000000" pitchFamily="34" charset="-128"/>
                <a:ea typeface="Noto Sans KR Light" panose="020B0200000000000000" pitchFamily="34" charset="-128"/>
              </a:defRPr>
            </a:lvl4pPr>
            <a:lvl5pPr marL="1514475" indent="-233363">
              <a:tabLst/>
              <a:defRPr sz="1200" b="0" i="0">
                <a:latin typeface="Noto Sans KR Light" panose="020B0200000000000000" pitchFamily="34" charset="-128"/>
                <a:ea typeface="Noto Sans KR Light" panose="020B0200000000000000" pitchFamily="34" charset="-128"/>
              </a:defRPr>
            </a:lvl5pPr>
          </a:lstStyle>
          <a:p>
            <a:pPr marL="314325" lvl="0" indent="-261938" algn="l" defTabSz="914400" rtl="0" eaLnBrk="1" latinLnBrk="1" hangingPunct="1">
              <a:lnSpc>
                <a:spcPct val="100000"/>
              </a:lnSpc>
              <a:spcBef>
                <a:spcPts val="1200"/>
              </a:spcBef>
              <a:buFontTx/>
              <a:buBlip>
                <a:blip r:embed="rId2"/>
              </a:buBlip>
              <a:tabLst/>
            </a:pPr>
            <a:r>
              <a:rPr kumimoji="1" lang="ko-KR" altLang="en-US" dirty="0"/>
              <a:t>마스터 텍스트 스타일을 편집하려면 클릭</a:t>
            </a:r>
          </a:p>
          <a:p>
            <a:pPr marL="577850" lvl="1" indent="-227013" algn="l" defTabSz="914400" rtl="0" eaLnBrk="1" latinLnBrk="1" hangingPunct="1">
              <a:lnSpc>
                <a:spcPct val="100000"/>
              </a:lnSpc>
              <a:spcBef>
                <a:spcPts val="600"/>
              </a:spcBef>
              <a:buFontTx/>
              <a:buBlip>
                <a:blip r:embed="rId4"/>
              </a:buBlip>
              <a:tabLst/>
            </a:pPr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BAE6B990-0954-AC02-2050-4B53EC0D39FD}"/>
              </a:ext>
            </a:extLst>
          </p:cNvPr>
          <p:cNvSpPr>
            <a:spLocks/>
          </p:cNvSpPr>
          <p:nvPr userDrawn="1"/>
        </p:nvSpPr>
        <p:spPr>
          <a:xfrm>
            <a:off x="463133" y="1558800"/>
            <a:ext cx="92492" cy="446844"/>
          </a:xfrm>
          <a:prstGeom prst="rect">
            <a:avLst/>
          </a:prstGeom>
          <a:solidFill>
            <a:srgbClr val="003876"/>
          </a:solidFill>
          <a:ln w="12700">
            <a:solidFill>
              <a:srgbClr val="0038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3351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+소주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598C70-CFB6-A4CB-0812-20EF46271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BBC7F9-554D-F732-1528-751D1F54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CB3E6-52AB-D441-8DCF-C23173057FDF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E35395F-844A-095D-52FC-CA1B2B4B77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4518" y="1591200"/>
            <a:ext cx="11409342" cy="395869"/>
          </a:xfrm>
          <a:prstGeom prst="rect">
            <a:avLst/>
          </a:prstGeom>
        </p:spPr>
        <p:txBody>
          <a:bodyPr wrap="square" lIns="216000" tIns="72000">
            <a:spAutoFit/>
          </a:bodyPr>
          <a:lstStyle>
            <a:lvl1pPr marL="52388" indent="0">
              <a:buNone/>
              <a:tabLst/>
              <a:defRPr kumimoji="1" lang="ko-KR" altLang="en-US" sz="2000" b="1" i="0" dirty="0">
                <a:latin typeface="Noto Sans KR SemiBold" panose="020B0200000000000000" pitchFamily="34" charset="-128"/>
                <a:ea typeface="Noto Sans KR SemiBold" panose="020B0200000000000000" pitchFamily="34" charset="-128"/>
              </a:defRPr>
            </a:lvl1pPr>
          </a:lstStyle>
          <a:p>
            <a:pPr marL="7938" lvl="0" indent="0">
              <a:buNone/>
              <a:tabLst/>
            </a:pPr>
            <a:r>
              <a:rPr kumimoji="1" lang="ko-KR" altLang="en-US" dirty="0"/>
              <a:t>마스터 텍스트 스타일을 편집하려면 클릭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F5E7A39-FE4F-3924-DEE3-28AB9EA064DD}"/>
              </a:ext>
            </a:extLst>
          </p:cNvPr>
          <p:cNvSpPr>
            <a:spLocks/>
          </p:cNvSpPr>
          <p:nvPr userDrawn="1"/>
        </p:nvSpPr>
        <p:spPr>
          <a:xfrm>
            <a:off x="463133" y="1558800"/>
            <a:ext cx="92492" cy="446844"/>
          </a:xfrm>
          <a:prstGeom prst="rect">
            <a:avLst/>
          </a:prstGeom>
          <a:solidFill>
            <a:srgbClr val="003876"/>
          </a:solidFill>
          <a:ln w="12700">
            <a:solidFill>
              <a:srgbClr val="0038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2575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598C70-CFB6-A4CB-0812-20EF46271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BBC7F9-554D-F732-1528-751D1F54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CB3E6-52AB-D441-8DCF-C23173057FD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59924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7E22FF9-1FC6-5847-CCD5-C420FAAA2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167" y="615719"/>
            <a:ext cx="11476566" cy="604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8DB4EA-744D-9777-CEC9-2CCAC14C92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72697"/>
            <a:ext cx="2743200" cy="1875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 i="0">
                <a:solidFill>
                  <a:schemeClr val="tx1">
                    <a:tint val="82000"/>
                  </a:schemeClr>
                </a:solidFill>
                <a:latin typeface="Noto Sans KR Light" panose="020B0200000000000000" pitchFamily="34" charset="-128"/>
                <a:ea typeface="Noto Sans KR Light" panose="020B0200000000000000" pitchFamily="34" charset="-128"/>
              </a:defRPr>
            </a:lvl1pPr>
          </a:lstStyle>
          <a:p>
            <a:fld id="{9B2CB3E6-52AB-D441-8DCF-C23173057FDF}" type="slidenum">
              <a:rPr kumimoji="1" lang="ko-KR" altLang="en-US" smtClean="0"/>
              <a:pPr/>
              <a:t>‹#›</a:t>
            </a:fld>
            <a:endParaRPr kumimoji="1" lang="ko-KR" altLang="en-US" sz="110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D7850951-18FA-E97F-9098-2B0F24171D3C}"/>
              </a:ext>
            </a:extLst>
          </p:cNvPr>
          <p:cNvSpPr/>
          <p:nvPr userDrawn="1"/>
        </p:nvSpPr>
        <p:spPr>
          <a:xfrm>
            <a:off x="0" y="0"/>
            <a:ext cx="12191695" cy="365125"/>
          </a:xfrm>
          <a:prstGeom prst="rect">
            <a:avLst/>
          </a:prstGeom>
          <a:solidFill>
            <a:srgbClr val="00387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4F6A6436-D180-4255-6AB9-D29EEB488062}"/>
              </a:ext>
            </a:extLst>
          </p:cNvPr>
          <p:cNvSpPr txBox="1"/>
          <p:nvPr userDrawn="1"/>
        </p:nvSpPr>
        <p:spPr>
          <a:xfrm>
            <a:off x="11278976" y="53248"/>
            <a:ext cx="9332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kumimoji="1" sz="1200" b="1">
                <a:solidFill>
                  <a:schemeClr val="bg1"/>
                </a:solidFill>
                <a:effectLst/>
                <a:latin typeface="Noto Sans KR" panose="020B0200000000000000" pitchFamily="34" charset="-128"/>
                <a:ea typeface="Noto Sans KR" panose="020B0200000000000000" pitchFamily="34" charset="-128"/>
              </a:defRPr>
            </a:lvl1pPr>
          </a:lstStyle>
          <a:p>
            <a:pPr lvl="0"/>
            <a:r>
              <a:rPr lang="ko-KR" altLang="en-US" dirty="0"/>
              <a:t>주영아 강사</a:t>
            </a:r>
            <a:endParaRPr 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5467E57-6C64-911D-3F93-682F10F6A578}"/>
              </a:ext>
            </a:extLst>
          </p:cNvPr>
          <p:cNvSpPr/>
          <p:nvPr userDrawn="1"/>
        </p:nvSpPr>
        <p:spPr>
          <a:xfrm>
            <a:off x="0" y="6760254"/>
            <a:ext cx="4927654" cy="97746"/>
          </a:xfrm>
          <a:prstGeom prst="rect">
            <a:avLst/>
          </a:prstGeom>
          <a:solidFill>
            <a:srgbClr val="0037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7C9F8BC-5900-104E-38A8-E445B9BF4FA8}"/>
              </a:ext>
            </a:extLst>
          </p:cNvPr>
          <p:cNvSpPr/>
          <p:nvPr userDrawn="1"/>
        </p:nvSpPr>
        <p:spPr>
          <a:xfrm>
            <a:off x="4927654" y="6760254"/>
            <a:ext cx="1218895" cy="9774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7A781D5-AF15-8B21-77FB-D1AA46E6B45A}"/>
              </a:ext>
            </a:extLst>
          </p:cNvPr>
          <p:cNvSpPr/>
          <p:nvPr userDrawn="1"/>
        </p:nvSpPr>
        <p:spPr>
          <a:xfrm>
            <a:off x="6146549" y="6760253"/>
            <a:ext cx="6045451" cy="97747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9AC4F262-3F6C-1680-8091-68A9C313DE72}"/>
              </a:ext>
            </a:extLst>
          </p:cNvPr>
          <p:cNvSpPr/>
          <p:nvPr userDrawn="1"/>
        </p:nvSpPr>
        <p:spPr>
          <a:xfrm>
            <a:off x="402167" y="1383776"/>
            <a:ext cx="11476567" cy="360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1CDD00F6-9ADD-4711-B2BC-89F0F93B9AD5}"/>
              </a:ext>
            </a:extLst>
          </p:cNvPr>
          <p:cNvSpPr/>
          <p:nvPr userDrawn="1"/>
        </p:nvSpPr>
        <p:spPr>
          <a:xfrm>
            <a:off x="402167" y="1377375"/>
            <a:ext cx="989703" cy="36000"/>
          </a:xfrm>
          <a:prstGeom prst="rect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535CB3-A8E2-D9D1-E626-FA591769022B}"/>
              </a:ext>
            </a:extLst>
          </p:cNvPr>
          <p:cNvSpPr txBox="1"/>
          <p:nvPr userDrawn="1"/>
        </p:nvSpPr>
        <p:spPr>
          <a:xfrm>
            <a:off x="20549" y="53249"/>
            <a:ext cx="2924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1200" b="1" dirty="0" err="1">
                <a:solidFill>
                  <a:schemeClr val="bg1"/>
                </a:solidFill>
                <a:effectLst/>
                <a:latin typeface="Noto Sans KR" panose="020B0200000000000000" pitchFamily="34" charset="-128"/>
                <a:ea typeface="Noto Sans KR" panose="020B0200000000000000" pitchFamily="34" charset="-128"/>
              </a:rPr>
              <a:t>아이티윌</a:t>
            </a:r>
            <a:r>
              <a:rPr kumimoji="1" lang="ko-KR" altLang="en-US" sz="1200" b="1" dirty="0">
                <a:solidFill>
                  <a:schemeClr val="bg1"/>
                </a:solidFill>
                <a:effectLst/>
                <a:latin typeface="Noto Sans KR" panose="020B0200000000000000" pitchFamily="34" charset="-128"/>
                <a:ea typeface="Noto Sans KR" panose="020B0200000000000000" pitchFamily="34" charset="-128"/>
              </a:rPr>
              <a:t> </a:t>
            </a:r>
            <a:r>
              <a:rPr kumimoji="1" lang="ko-KR" altLang="en-US" sz="1200" b="1" dirty="0" err="1">
                <a:solidFill>
                  <a:schemeClr val="bg1"/>
                </a:solidFill>
                <a:effectLst/>
                <a:latin typeface="Noto Sans KR" panose="020B0200000000000000" pitchFamily="34" charset="-128"/>
                <a:ea typeface="Noto Sans KR" panose="020B0200000000000000" pitchFamily="34" charset="-128"/>
              </a:rPr>
              <a:t>ㅣ</a:t>
            </a:r>
            <a:r>
              <a:rPr kumimoji="1" lang="ko-KR" altLang="en-US" sz="1200" b="1" dirty="0">
                <a:solidFill>
                  <a:schemeClr val="bg1"/>
                </a:solidFill>
                <a:effectLst/>
                <a:latin typeface="Noto Sans KR" panose="020B0200000000000000" pitchFamily="34" charset="-128"/>
                <a:ea typeface="Noto Sans KR" panose="020B0200000000000000" pitchFamily="34" charset="-128"/>
              </a:rPr>
              <a:t> </a:t>
            </a:r>
            <a:r>
              <a:rPr kumimoji="1" lang="ko-KR" altLang="en-US" sz="1200" b="1" dirty="0" err="1">
                <a:solidFill>
                  <a:schemeClr val="bg1"/>
                </a:solidFill>
                <a:effectLst/>
                <a:latin typeface="Noto Sans KR" panose="020B0200000000000000" pitchFamily="34" charset="-128"/>
                <a:ea typeface="Noto Sans KR" panose="020B0200000000000000" pitchFamily="34" charset="-128"/>
              </a:rPr>
              <a:t>머신러닝</a:t>
            </a:r>
            <a:r>
              <a:rPr kumimoji="1" lang="ko-KR" altLang="en-US" sz="1200" b="1" dirty="0">
                <a:solidFill>
                  <a:schemeClr val="bg1"/>
                </a:solidFill>
                <a:effectLst/>
                <a:latin typeface="Noto Sans KR" panose="020B0200000000000000" pitchFamily="34" charset="-128"/>
                <a:ea typeface="Noto Sans KR" panose="020B0200000000000000" pitchFamily="34" charset="-128"/>
              </a:rPr>
              <a:t> 데이터 분석 부트캠프</a:t>
            </a:r>
          </a:p>
        </p:txBody>
      </p:sp>
    </p:spTree>
    <p:extLst>
      <p:ext uri="{BB962C8B-B14F-4D97-AF65-F5344CB8AC3E}">
        <p14:creationId xmlns:p14="http://schemas.microsoft.com/office/powerpoint/2010/main" val="2828528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3" r:id="rId3"/>
    <p:sldLayoutId id="2147483661" r:id="rId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kumimoji="1" lang="ko-KR" altLang="en-US" sz="2800" b="1" i="0" kern="1200" dirty="0">
          <a:solidFill>
            <a:srgbClr val="111827"/>
          </a:solidFill>
          <a:latin typeface="Noto Sans KR" panose="020B0200000000000000" pitchFamily="34" charset="-128"/>
          <a:ea typeface="Noto Sans KR" panose="020B0200000000000000" pitchFamily="34" charset="-128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0A7166-70A6-CDA6-0059-37CA38885A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8099" y="1671305"/>
            <a:ext cx="10452522" cy="1704659"/>
          </a:xfrm>
        </p:spPr>
        <p:txBody>
          <a:bodyPr/>
          <a:lstStyle/>
          <a:p>
            <a:r>
              <a:rPr lang="ko-KR" altLang="en-US" dirty="0"/>
              <a:t>데이터 분석 학습을 위한 </a:t>
            </a:r>
            <a:r>
              <a:rPr lang="en-US" altLang="ko-KR" dirty="0"/>
              <a:t>AI</a:t>
            </a:r>
            <a:r>
              <a:rPr lang="ko-KR" altLang="en-US" dirty="0"/>
              <a:t> 사용 방법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C8E5127-86E7-2F8F-31EC-A9865E37ED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8099" y="3981778"/>
            <a:ext cx="10452522" cy="936346"/>
          </a:xfrm>
        </p:spPr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지침 설정 및 올바른 프롬프트 작성 방법</a:t>
            </a:r>
          </a:p>
        </p:txBody>
      </p:sp>
    </p:spTree>
    <p:extLst>
      <p:ext uri="{BB962C8B-B14F-4D97-AF65-F5344CB8AC3E}">
        <p14:creationId xmlns:p14="http://schemas.microsoft.com/office/powerpoint/2010/main" val="2856533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E7F195-8D66-7D1B-4805-345AF5C96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ko-KR" dirty="0">
                <a:latin typeface="Noto Sans KR"/>
                <a:ea typeface="Noto Sans KR"/>
                <a:cs typeface="Noto Sans KR"/>
              </a:rPr>
              <a:t>AI</a:t>
            </a:r>
            <a:r>
              <a:rPr lang="ko-KR" altLang="en-US" dirty="0">
                <a:latin typeface="Noto Sans KR"/>
                <a:ea typeface="Noto Sans KR"/>
                <a:cs typeface="Noto Sans KR"/>
              </a:rPr>
              <a:t>는 내 판단을 돕는 도구</a:t>
            </a:r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6B3BD2D-AB80-D8A0-9CF5-1DDDED565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CB3E6-52AB-D441-8DCF-C23173057FDF}" type="slidenum">
              <a:rPr kumimoji="1" lang="ko-KR" altLang="en-US" smtClean="0"/>
              <a:t>2</a:t>
            </a:fld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4C3385-C4F4-07CF-101E-36A24AAAF4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ko-KR" altLang="en-US" dirty="0"/>
              <a:t>학습이라는 목표에 </a:t>
            </a:r>
            <a:r>
              <a:rPr kumimoji="1" lang="ko-KR" altLang="en-US"/>
              <a:t>충실하기 위해서 </a:t>
            </a:r>
            <a:r>
              <a:rPr lang="ko-KR" altLang="en-US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코드는 내가 직접 작성해야 합니다 </a:t>
            </a:r>
            <a:r>
              <a:rPr lang="en-US" altLang="ko-KR" dirty="0">
                <a:solidFill>
                  <a:srgbClr val="002752"/>
                </a:solidFill>
                <a:latin typeface="Noto Sans KR"/>
                <a:ea typeface="Noto Sans KR"/>
                <a:cs typeface="Noto Sans KR"/>
                <a:sym typeface="Wingdings" pitchFamily="2" charset="2"/>
              </a:rPr>
              <a:t></a:t>
            </a:r>
            <a:r>
              <a:rPr lang="ko-KR" altLang="en-US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lang="en" altLang="ko-KR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AI</a:t>
            </a:r>
            <a:r>
              <a:rPr lang="ko-KR" altLang="en-US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는 방향 </a:t>
            </a:r>
            <a:r>
              <a:rPr lang="en-US" altLang="ko-KR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· </a:t>
            </a:r>
            <a:r>
              <a:rPr lang="ko-KR" altLang="en-US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해석 </a:t>
            </a:r>
            <a:r>
              <a:rPr lang="en-US" altLang="ko-KR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· </a:t>
            </a:r>
            <a:r>
              <a:rPr lang="ko-KR" altLang="en-US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오류 진단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8C3A946-3276-1A25-CEAD-07F0E23BB7AE}"/>
              </a:ext>
            </a:extLst>
          </p:cNvPr>
          <p:cNvSpPr/>
          <p:nvPr/>
        </p:nvSpPr>
        <p:spPr>
          <a:xfrm>
            <a:off x="469900" y="2184296"/>
            <a:ext cx="3642360" cy="114379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5875">
            <a:solidFill>
              <a:srgbClr val="9C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85216" tIns="219456" rIns="146304" bIns="54864" rtlCol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dirty="0" err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설계의</a:t>
            </a:r>
            <a:r>
              <a:rPr sz="1700" b="1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700" b="1" dirty="0" err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방향성</a:t>
            </a:r>
            <a:endParaRPr sz="1700" b="1" dirty="0">
              <a:solidFill>
                <a:srgbClr val="002752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98000"/>
              </a:lnSpc>
              <a:spcBef>
                <a:spcPts val="600"/>
              </a:spcBef>
              <a:spcAft>
                <a:spcPts val="0"/>
              </a:spcAft>
            </a:pPr>
            <a:r>
              <a:rPr lang="ko-KR" altLang="en-US" sz="14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문제 해결 </a:t>
            </a:r>
            <a:r>
              <a:rPr sz="14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방법</a:t>
            </a:r>
            <a:r>
              <a:rPr lang="ko-KR" altLang="en-US" sz="14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과 </a:t>
            </a:r>
            <a:r>
              <a:rPr sz="14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대안</a:t>
            </a:r>
            <a:endParaRPr sz="1400" b="0" dirty="0">
              <a:solidFill>
                <a:srgbClr val="1F2A3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803D5AC-9A3C-7AFB-302A-45FF6F879100}"/>
              </a:ext>
            </a:extLst>
          </p:cNvPr>
          <p:cNvSpPr/>
          <p:nvPr/>
        </p:nvSpPr>
        <p:spPr>
          <a:xfrm>
            <a:off x="469900" y="2184296"/>
            <a:ext cx="3642360" cy="82296"/>
          </a:xfrm>
          <a:prstGeom prst="roundRect">
            <a:avLst>
              <a:gd name="adj" fmla="val 33333"/>
            </a:avLst>
          </a:prstGeom>
          <a:solidFill>
            <a:srgbClr val="9CC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2BC9658-E4AA-6785-5135-E93BFB9711B1}"/>
              </a:ext>
            </a:extLst>
          </p:cNvPr>
          <p:cNvSpPr/>
          <p:nvPr/>
        </p:nvSpPr>
        <p:spPr>
          <a:xfrm>
            <a:off x="601541" y="2401463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3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35A5935-0949-755A-E73A-EE459E4FFF1C}"/>
              </a:ext>
            </a:extLst>
          </p:cNvPr>
          <p:cNvSpPr/>
          <p:nvPr/>
        </p:nvSpPr>
        <p:spPr>
          <a:xfrm>
            <a:off x="4386580" y="2184296"/>
            <a:ext cx="3642360" cy="114379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5875">
            <a:solidFill>
              <a:srgbClr val="9C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85216" tIns="219456" rIns="146304" bIns="54864" rtlCol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dirty="0" err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결과의</a:t>
            </a:r>
            <a:r>
              <a:rPr sz="1700" b="1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700" b="1" dirty="0" err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해석</a:t>
            </a:r>
            <a:endParaRPr sz="1700" b="1" dirty="0">
              <a:solidFill>
                <a:srgbClr val="002752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98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출력</a:t>
            </a:r>
            <a:r>
              <a:rPr lang="ko-KR" altLang="en-US" sz="14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결과에 대한 해석 방법</a:t>
            </a:r>
            <a:br>
              <a:rPr lang="en-US" altLang="ko-KR" sz="14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</a:br>
            <a:r>
              <a:rPr lang="en-US" altLang="ko-KR" sz="14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lang="ko-KR" altLang="en-US" sz="14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데이터 분석의 경우</a:t>
            </a:r>
            <a:r>
              <a:rPr lang="en-US" altLang="ko-KR" sz="14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)</a:t>
            </a:r>
            <a:endParaRPr sz="1400" b="0" dirty="0">
              <a:solidFill>
                <a:srgbClr val="1F2A3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58FFDA5-4C22-996D-3B77-46F0FCB1AD9E}"/>
              </a:ext>
            </a:extLst>
          </p:cNvPr>
          <p:cNvSpPr/>
          <p:nvPr/>
        </p:nvSpPr>
        <p:spPr>
          <a:xfrm>
            <a:off x="4386580" y="2184296"/>
            <a:ext cx="3642360" cy="82296"/>
          </a:xfrm>
          <a:prstGeom prst="roundRect">
            <a:avLst>
              <a:gd name="adj" fmla="val 33333"/>
            </a:avLst>
          </a:prstGeom>
          <a:solidFill>
            <a:srgbClr val="9CC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2AC72B8-DD09-7488-685B-1CBDD0322E07}"/>
              </a:ext>
            </a:extLst>
          </p:cNvPr>
          <p:cNvSpPr/>
          <p:nvPr/>
        </p:nvSpPr>
        <p:spPr>
          <a:xfrm>
            <a:off x="4551172" y="2401463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3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C39BFDD-2C0E-6C3D-60EB-A5D5E84915A3}"/>
              </a:ext>
            </a:extLst>
          </p:cNvPr>
          <p:cNvSpPr/>
          <p:nvPr/>
        </p:nvSpPr>
        <p:spPr>
          <a:xfrm>
            <a:off x="8303260" y="2184296"/>
            <a:ext cx="3642360" cy="114379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5875">
            <a:solidFill>
              <a:srgbClr val="9C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85216" tIns="219456" rIns="146304" bIns="54864" rtlCol="0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오류의 원인 진단</a:t>
            </a:r>
          </a:p>
          <a:p>
            <a:pPr algn="l">
              <a:lnSpc>
                <a:spcPct val="98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에러 메시지와 예상 밖 결과가 무엇을 가리키는지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E9AE0C0-5F78-C629-23B5-D998301B4AB6}"/>
              </a:ext>
            </a:extLst>
          </p:cNvPr>
          <p:cNvSpPr/>
          <p:nvPr/>
        </p:nvSpPr>
        <p:spPr>
          <a:xfrm>
            <a:off x="8303260" y="2184296"/>
            <a:ext cx="3642360" cy="82296"/>
          </a:xfrm>
          <a:prstGeom prst="roundRect">
            <a:avLst>
              <a:gd name="adj" fmla="val 33333"/>
            </a:avLst>
          </a:prstGeom>
          <a:solidFill>
            <a:srgbClr val="9CC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BA8E0E-653E-9462-8C18-E73EE77A2305}"/>
              </a:ext>
            </a:extLst>
          </p:cNvPr>
          <p:cNvSpPr/>
          <p:nvPr/>
        </p:nvSpPr>
        <p:spPr>
          <a:xfrm>
            <a:off x="8467852" y="2401463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3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13DDABE-35F8-6CE4-3A87-490FF0402122}"/>
              </a:ext>
            </a:extLst>
          </p:cNvPr>
          <p:cNvSpPr/>
          <p:nvPr/>
        </p:nvSpPr>
        <p:spPr>
          <a:xfrm>
            <a:off x="469900" y="3563967"/>
            <a:ext cx="5532120" cy="501523"/>
          </a:xfrm>
          <a:prstGeom prst="roundRect">
            <a:avLst>
              <a:gd name="adj" fmla="val 18181"/>
            </a:avLst>
          </a:prstGeom>
          <a:solidFill>
            <a:srgbClr val="E7F1FB"/>
          </a:solidFill>
          <a:ln w="12700">
            <a:solidFill>
              <a:srgbClr val="9C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30352" tIns="18288" rIns="109728" bIns="18288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1600" b="1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학습에 도움이 되는 </a:t>
            </a:r>
            <a:r>
              <a:rPr lang="en-US" altLang="ko-KR" sz="1600" b="1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AI</a:t>
            </a:r>
            <a:r>
              <a:rPr lang="ko-KR" altLang="en-US" sz="1600" b="1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 사용 방법</a:t>
            </a:r>
            <a:endParaRPr sz="1600" b="1" dirty="0">
              <a:solidFill>
                <a:srgbClr val="00275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D20E1DB-B38F-C0B8-A0B1-6C6463698A8B}"/>
              </a:ext>
            </a:extLst>
          </p:cNvPr>
          <p:cNvSpPr/>
          <p:nvPr/>
        </p:nvSpPr>
        <p:spPr>
          <a:xfrm>
            <a:off x="607060" y="3686712"/>
            <a:ext cx="256032" cy="256032"/>
          </a:xfrm>
          <a:prstGeom prst="roundRect">
            <a:avLst>
              <a:gd name="adj" fmla="val 21428"/>
            </a:avLst>
          </a:prstGeom>
          <a:noFill/>
          <a:ln w="15875">
            <a:solidFill>
              <a:srgbClr val="003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B30A6ADB-9EBF-48B1-C3E6-E5EFDFCF24F9}"/>
              </a:ext>
            </a:extLst>
          </p:cNvPr>
          <p:cNvSpPr/>
          <p:nvPr/>
        </p:nvSpPr>
        <p:spPr>
          <a:xfrm>
            <a:off x="668507" y="3760961"/>
            <a:ext cx="138257" cy="107534"/>
          </a:xfrm>
          <a:custGeom>
            <a:avLst/>
            <a:gdLst/>
            <a:ahLst/>
            <a:cxnLst/>
            <a:rect l="l" t="t" r="r" b="b"/>
            <a:pathLst>
              <a:path w="138257" h="107534">
                <a:moveTo>
                  <a:pt x="0" y="56327"/>
                </a:moveTo>
                <a:lnTo>
                  <a:pt x="51207" y="107534"/>
                </a:lnTo>
                <a:lnTo>
                  <a:pt x="138257" y="0"/>
                </a:lnTo>
              </a:path>
            </a:pathLst>
          </a:custGeom>
          <a:noFill/>
          <a:ln w="22225">
            <a:solidFill>
              <a:srgbClr val="003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044619D-D216-EFF0-C687-7F17296D8EB0}"/>
              </a:ext>
            </a:extLst>
          </p:cNvPr>
          <p:cNvSpPr/>
          <p:nvPr/>
        </p:nvSpPr>
        <p:spPr>
          <a:xfrm>
            <a:off x="6413500" y="3563967"/>
            <a:ext cx="5532120" cy="501523"/>
          </a:xfrm>
          <a:prstGeom prst="roundRect">
            <a:avLst>
              <a:gd name="adj" fmla="val 18181"/>
            </a:avLst>
          </a:prstGeom>
          <a:solidFill>
            <a:srgbClr val="F1F3F6"/>
          </a:solidFill>
          <a:ln w="12700">
            <a:solidFill>
              <a:srgbClr val="C9D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30352" tIns="18288" rIns="109728" bIns="18288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1600" b="1" dirty="0">
                <a:solidFill>
                  <a:srgbClr val="5B6B7C"/>
                </a:solidFill>
                <a:latin typeface="Noto Sans KR"/>
                <a:ea typeface="Noto Sans KR"/>
                <a:cs typeface="Noto Sans KR"/>
              </a:rPr>
              <a:t>학습에 도움이 되지 않는 </a:t>
            </a:r>
            <a:r>
              <a:rPr lang="en-US" altLang="ko-KR" sz="1600" b="1" dirty="0">
                <a:solidFill>
                  <a:srgbClr val="5B6B7C"/>
                </a:solidFill>
                <a:latin typeface="Noto Sans KR"/>
                <a:ea typeface="Noto Sans KR"/>
                <a:cs typeface="Noto Sans KR"/>
              </a:rPr>
              <a:t>AI</a:t>
            </a:r>
            <a:r>
              <a:rPr lang="ko-KR" altLang="en-US" sz="1600" b="1" dirty="0">
                <a:solidFill>
                  <a:srgbClr val="5B6B7C"/>
                </a:solidFill>
                <a:latin typeface="Noto Sans KR"/>
                <a:ea typeface="Noto Sans KR"/>
                <a:cs typeface="Noto Sans KR"/>
              </a:rPr>
              <a:t> 사용 방법</a:t>
            </a:r>
            <a:endParaRPr sz="1600" b="1" dirty="0">
              <a:solidFill>
                <a:srgbClr val="5B6B7C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17FCF1B-C5D5-6DFA-A66E-A32381162B02}"/>
              </a:ext>
            </a:extLst>
          </p:cNvPr>
          <p:cNvSpPr/>
          <p:nvPr/>
        </p:nvSpPr>
        <p:spPr>
          <a:xfrm>
            <a:off x="6550660" y="3686712"/>
            <a:ext cx="256032" cy="256032"/>
          </a:xfrm>
          <a:prstGeom prst="roundRect">
            <a:avLst>
              <a:gd name="adj" fmla="val 21428"/>
            </a:avLst>
          </a:prstGeom>
          <a:noFill/>
          <a:ln w="15875">
            <a:solidFill>
              <a:srgbClr val="5B6B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21" name="Connector 20">
            <a:extLst>
              <a:ext uri="{FF2B5EF4-FFF2-40B4-BE49-F238E27FC236}">
                <a16:creationId xmlns:a16="http://schemas.microsoft.com/office/drawing/2014/main" id="{9C3C4AC1-1758-E00E-A9B9-8E93FB7AEB94}"/>
              </a:ext>
            </a:extLst>
          </p:cNvPr>
          <p:cNvCxnSpPr>
            <a:cxnSpLocks/>
          </p:cNvCxnSpPr>
          <p:nvPr/>
        </p:nvCxnSpPr>
        <p:spPr>
          <a:xfrm>
            <a:off x="6622348" y="3758401"/>
            <a:ext cx="112655" cy="112655"/>
          </a:xfrm>
          <a:prstGeom prst="line">
            <a:avLst/>
          </a:prstGeom>
          <a:ln w="22225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>
            <a:extLst>
              <a:ext uri="{FF2B5EF4-FFF2-40B4-BE49-F238E27FC236}">
                <a16:creationId xmlns:a16="http://schemas.microsoft.com/office/drawing/2014/main" id="{CCC79A85-787D-36C8-2266-5E3D13D0F711}"/>
              </a:ext>
            </a:extLst>
          </p:cNvPr>
          <p:cNvCxnSpPr>
            <a:cxnSpLocks/>
          </p:cNvCxnSpPr>
          <p:nvPr/>
        </p:nvCxnSpPr>
        <p:spPr>
          <a:xfrm flipH="1">
            <a:off x="6622348" y="3758401"/>
            <a:ext cx="112655" cy="112655"/>
          </a:xfrm>
          <a:prstGeom prst="line">
            <a:avLst/>
          </a:prstGeom>
          <a:ln w="22225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DEAB27D-53F6-0FA0-9F45-BF1F4A1C9B6E}"/>
              </a:ext>
            </a:extLst>
          </p:cNvPr>
          <p:cNvSpPr/>
          <p:nvPr/>
        </p:nvSpPr>
        <p:spPr>
          <a:xfrm>
            <a:off x="469900" y="4156930"/>
            <a:ext cx="55321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9C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20624" tIns="27432" rIns="128016" bIns="27432" rtlCol="0" anchor="ctr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두 방법 중 어느 쪽이 왜 나은지 판단 기준 묻기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5BF00FA-4FAC-8A67-09AE-ADCD65298D97}"/>
              </a:ext>
            </a:extLst>
          </p:cNvPr>
          <p:cNvSpPr/>
          <p:nvPr/>
        </p:nvSpPr>
        <p:spPr>
          <a:xfrm>
            <a:off x="588772" y="4284946"/>
            <a:ext cx="45720" cy="256032"/>
          </a:xfrm>
          <a:prstGeom prst="roundRect">
            <a:avLst>
              <a:gd name="adj" fmla="val 40000"/>
            </a:avLst>
          </a:prstGeom>
          <a:solidFill>
            <a:srgbClr val="9CC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E97A4C9-398F-9BB7-D229-2598271EE0B9}"/>
              </a:ext>
            </a:extLst>
          </p:cNvPr>
          <p:cNvSpPr/>
          <p:nvPr/>
        </p:nvSpPr>
        <p:spPr>
          <a:xfrm>
            <a:off x="6413500" y="4156930"/>
            <a:ext cx="55321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9D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20624" tIns="27432" rIns="128016" bIns="27432" rtlCol="0" anchor="ctr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B6B7C"/>
                </a:solidFill>
                <a:latin typeface="Noto Sans KR"/>
                <a:ea typeface="Noto Sans KR"/>
                <a:cs typeface="Noto Sans KR"/>
              </a:rPr>
              <a:t>코드·쿼리를 통째로 받아 붙여넣기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B2D12B1-B9C0-C6CC-05E3-D43A4868898C}"/>
              </a:ext>
            </a:extLst>
          </p:cNvPr>
          <p:cNvSpPr/>
          <p:nvPr/>
        </p:nvSpPr>
        <p:spPr>
          <a:xfrm>
            <a:off x="6532372" y="4284946"/>
            <a:ext cx="45720" cy="256032"/>
          </a:xfrm>
          <a:prstGeom prst="roundRect">
            <a:avLst>
              <a:gd name="adj" fmla="val 40000"/>
            </a:avLst>
          </a:prstGeom>
          <a:solidFill>
            <a:srgbClr val="C9D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1DB2D08F-A884-1177-60B4-A9B952767088}"/>
              </a:ext>
            </a:extLst>
          </p:cNvPr>
          <p:cNvSpPr/>
          <p:nvPr/>
        </p:nvSpPr>
        <p:spPr>
          <a:xfrm>
            <a:off x="469900" y="4742146"/>
            <a:ext cx="55321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9C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20624" tIns="27432" rIns="128016" bIns="27432" rtlCol="0" anchor="ctr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에러 메시지 읽는 법과 원인 후보 묻기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353206C-E1FE-31A5-68F5-B935976D9D6D}"/>
              </a:ext>
            </a:extLst>
          </p:cNvPr>
          <p:cNvSpPr/>
          <p:nvPr/>
        </p:nvSpPr>
        <p:spPr>
          <a:xfrm>
            <a:off x="588772" y="4870162"/>
            <a:ext cx="45720" cy="256032"/>
          </a:xfrm>
          <a:prstGeom prst="roundRect">
            <a:avLst>
              <a:gd name="adj" fmla="val 40000"/>
            </a:avLst>
          </a:prstGeom>
          <a:solidFill>
            <a:srgbClr val="9CC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4C448BF-29A9-9BE0-D89D-F01B27FB2246}"/>
              </a:ext>
            </a:extLst>
          </p:cNvPr>
          <p:cNvSpPr/>
          <p:nvPr/>
        </p:nvSpPr>
        <p:spPr>
          <a:xfrm>
            <a:off x="6413500" y="4742146"/>
            <a:ext cx="55321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9D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20624" tIns="27432" rIns="128016" bIns="27432" rtlCol="0" anchor="ctr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B6B7C"/>
                </a:solidFill>
                <a:latin typeface="Noto Sans KR"/>
                <a:ea typeface="Noto Sans KR"/>
                <a:cs typeface="Noto Sans KR"/>
              </a:rPr>
              <a:t>내 코드를 고쳐 달라고 하기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5BE89E31-035D-6CF5-0583-89F371229E2E}"/>
              </a:ext>
            </a:extLst>
          </p:cNvPr>
          <p:cNvSpPr/>
          <p:nvPr/>
        </p:nvSpPr>
        <p:spPr>
          <a:xfrm>
            <a:off x="6532372" y="4870162"/>
            <a:ext cx="45720" cy="256032"/>
          </a:xfrm>
          <a:prstGeom prst="roundRect">
            <a:avLst>
              <a:gd name="adj" fmla="val 40000"/>
            </a:avLst>
          </a:prstGeom>
          <a:solidFill>
            <a:srgbClr val="C9D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131F3A2-4EC6-D98C-3377-724EF00B38EE}"/>
              </a:ext>
            </a:extLst>
          </p:cNvPr>
          <p:cNvSpPr/>
          <p:nvPr/>
        </p:nvSpPr>
        <p:spPr>
          <a:xfrm>
            <a:off x="469900" y="5327363"/>
            <a:ext cx="55321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9C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20624" tIns="27432" rIns="128016" bIns="27432" rtlCol="0" anchor="ctr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내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코드 혹은 결과 </a:t>
            </a: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해석의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허점</a:t>
            </a:r>
            <a:r>
              <a:rPr lang="ko-KR" altLang="en-US" sz="150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요청</a:t>
            </a:r>
            <a:endParaRPr sz="1500" b="0" dirty="0">
              <a:solidFill>
                <a:srgbClr val="1F2A3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A4B991CD-D9CB-C21F-79E6-A08CCD36E142}"/>
              </a:ext>
            </a:extLst>
          </p:cNvPr>
          <p:cNvSpPr/>
          <p:nvPr/>
        </p:nvSpPr>
        <p:spPr>
          <a:xfrm>
            <a:off x="588772" y="5455379"/>
            <a:ext cx="45720" cy="256032"/>
          </a:xfrm>
          <a:prstGeom prst="roundRect">
            <a:avLst>
              <a:gd name="adj" fmla="val 40000"/>
            </a:avLst>
          </a:prstGeom>
          <a:solidFill>
            <a:srgbClr val="9CC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B135BF2E-75A6-53CA-7CD1-E51FD8371D9E}"/>
              </a:ext>
            </a:extLst>
          </p:cNvPr>
          <p:cNvSpPr/>
          <p:nvPr/>
        </p:nvSpPr>
        <p:spPr>
          <a:xfrm>
            <a:off x="6413500" y="5327363"/>
            <a:ext cx="55321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C9D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20624" tIns="27432" rIns="128016" bIns="27432" rtlCol="0" anchor="ctr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B6B7C"/>
                </a:solidFill>
                <a:latin typeface="Noto Sans KR"/>
                <a:ea typeface="Noto Sans KR"/>
                <a:cs typeface="Noto Sans KR"/>
              </a:rPr>
              <a:t>결론·해석문을 통째로 생성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29424F3-8EEE-7481-9B81-D1F0EA7C2EF7}"/>
              </a:ext>
            </a:extLst>
          </p:cNvPr>
          <p:cNvSpPr/>
          <p:nvPr/>
        </p:nvSpPr>
        <p:spPr>
          <a:xfrm>
            <a:off x="6532372" y="5455379"/>
            <a:ext cx="45720" cy="256032"/>
          </a:xfrm>
          <a:prstGeom prst="roundRect">
            <a:avLst>
              <a:gd name="adj" fmla="val 40000"/>
            </a:avLst>
          </a:prstGeom>
          <a:solidFill>
            <a:srgbClr val="C9D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3D93F03-66BC-7C0B-3040-50A0E9C0927C}"/>
              </a:ext>
            </a:extLst>
          </p:cNvPr>
          <p:cNvSpPr/>
          <p:nvPr/>
        </p:nvSpPr>
        <p:spPr>
          <a:xfrm>
            <a:off x="469900" y="6169933"/>
            <a:ext cx="11475720" cy="512064"/>
          </a:xfrm>
          <a:prstGeom prst="roundRect">
            <a:avLst>
              <a:gd name="adj" fmla="val 0"/>
            </a:avLst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" rIns="182880" bIns="18288" rtlCol="0" anchor="ctr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“내가 이걸 설명할 수 있는가?” — 설명 못 하면 아직 내 것이 아니다</a:t>
            </a:r>
          </a:p>
        </p:txBody>
      </p:sp>
    </p:spTree>
    <p:extLst>
      <p:ext uri="{BB962C8B-B14F-4D97-AF65-F5344CB8AC3E}">
        <p14:creationId xmlns:p14="http://schemas.microsoft.com/office/powerpoint/2010/main" val="3440374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/>
          <p:cNvSpPr/>
          <p:nvPr/>
        </p:nvSpPr>
        <p:spPr>
          <a:xfrm>
            <a:off x="402336" y="3429000"/>
            <a:ext cx="3642360" cy="737555"/>
          </a:xfrm>
          <a:prstGeom prst="roundRect">
            <a:avLst>
              <a:gd name="adj" fmla="val 16129"/>
            </a:avLst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12064" tIns="27432" rIns="109728" bIns="2743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역할을 방향성·해석·오류 진단 셋으로 한정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9016" y="3429000"/>
            <a:ext cx="3642360" cy="737555"/>
          </a:xfrm>
          <a:prstGeom prst="roundRect">
            <a:avLst>
              <a:gd name="adj" fmla="val 16129"/>
            </a:avLst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12064" tIns="27432" rIns="109728" bIns="2743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영역(SQL·파이썬·분석)이 갈리면 먼저 물어보기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35696" y="3429000"/>
            <a:ext cx="3642360" cy="737555"/>
          </a:xfrm>
          <a:prstGeom prst="roundRect">
            <a:avLst>
              <a:gd name="adj" fmla="val 16129"/>
            </a:avLst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12064" tIns="27432" rIns="109728" bIns="2743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코드는 어떤 형태로도 출력 금지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6" y="4326875"/>
            <a:ext cx="3642360" cy="737555"/>
          </a:xfrm>
          <a:prstGeom prst="roundRect">
            <a:avLst>
              <a:gd name="adj" fmla="val 16129"/>
            </a:avLst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12064" tIns="27432" rIns="109728" bIns="2743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내가 붙여 넣은 코드를 고쳐서 돌려주지 않기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9016" y="4326875"/>
            <a:ext cx="3642360" cy="737555"/>
          </a:xfrm>
          <a:prstGeom prst="roundRect">
            <a:avLst>
              <a:gd name="adj" fmla="val 16129"/>
            </a:avLst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12064" tIns="27432" rIns="109728" bIns="2743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사실 / 추론 / 추측을 구분해 표시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35696" y="4326875"/>
            <a:ext cx="3642360" cy="737555"/>
          </a:xfrm>
          <a:prstGeom prst="roundRect">
            <a:avLst>
              <a:gd name="adj" fmla="val 16129"/>
            </a:avLst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12064" tIns="27432" rIns="109728" bIns="2743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답변 끝에 “내가 확인할 점” 2~3줄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167" y="615719"/>
            <a:ext cx="11476566" cy="604675"/>
          </a:xfrm>
        </p:spPr>
        <p:txBody>
          <a:bodyPr wrap="square" lIns="0" tIns="0" rIns="0" bIns="0" anchor="ctr"/>
          <a:lstStyle/>
          <a:p>
            <a:r>
              <a:rPr lang="ko-KR" altLang="en-US" dirty="0"/>
              <a:t>효율적인 </a:t>
            </a:r>
            <a:r>
              <a:rPr lang="en" altLang="ko-KR" dirty="0"/>
              <a:t>AI </a:t>
            </a:r>
            <a:r>
              <a:rPr lang="ko-KR" altLang="en-US" dirty="0"/>
              <a:t>사용을 위한 필수 설정</a:t>
            </a:r>
          </a:p>
        </p:txBody>
      </p:sp>
      <p:sp>
        <p:nvSpPr>
          <p:cNvPr id="27" name="텍스트 개체 틀 26">
            <a:extLst>
              <a:ext uri="{FF2B5EF4-FFF2-40B4-BE49-F238E27FC236}">
                <a16:creationId xmlns:a16="http://schemas.microsoft.com/office/drawing/2014/main" id="{952714B2-F716-BE51-A5DA-09E525AA4C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4518" y="1591200"/>
            <a:ext cx="11409342" cy="395869"/>
          </a:xfrm>
        </p:spPr>
        <p:txBody>
          <a:bodyPr/>
          <a:lstStyle/>
          <a:p>
            <a:r>
              <a:rPr lang="ko-KR" altLang="en-US" dirty="0"/>
              <a:t>매번 반복되는 요청에 대한 지침 설정</a:t>
            </a:r>
          </a:p>
        </p:txBody>
      </p:sp>
      <p:sp>
        <p:nvSpPr>
          <p:cNvPr id="28" name="내용 개체 틀 27">
            <a:extLst>
              <a:ext uri="{FF2B5EF4-FFF2-40B4-BE49-F238E27FC236}">
                <a16:creationId xmlns:a16="http://schemas.microsoft.com/office/drawing/2014/main" id="{BE6D7397-9745-5B7D-785A-A0BEC465F34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900" y="2101362"/>
            <a:ext cx="11409363" cy="4471335"/>
          </a:xfrm>
        </p:spPr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지침이란 </a:t>
            </a:r>
            <a:r>
              <a:rPr lang="en-US" altLang="ko-KR" dirty="0">
                <a:sym typeface="Wingdings" pitchFamily="2" charset="2"/>
              </a:rPr>
              <a:t>:</a:t>
            </a:r>
            <a:r>
              <a:rPr lang="ko-KR" altLang="en-US" dirty="0">
                <a:sym typeface="Wingdings" pitchFamily="2" charset="2"/>
              </a:rPr>
              <a:t> </a:t>
            </a:r>
            <a:r>
              <a:rPr lang="ko-KR" altLang="en-US" dirty="0"/>
              <a:t>한 번의 설정으로 </a:t>
            </a:r>
            <a:r>
              <a:rPr lang="en-US" altLang="ko-KR" dirty="0"/>
              <a:t>AI</a:t>
            </a:r>
            <a:r>
              <a:rPr lang="ko-KR" altLang="en-US" dirty="0" err="1"/>
              <a:t>와의</a:t>
            </a:r>
            <a:r>
              <a:rPr lang="ko-KR" altLang="en-US" dirty="0"/>
              <a:t> 모든 대화에 기본 전제로 작동하는 전역 프롬프트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492240"/>
            <a:ext cx="1819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B7C"/>
                </a:solidFill>
                <a:latin typeface="Noto Sans KR"/>
                <a:ea typeface="Noto Sans KR"/>
                <a:cs typeface="Noto Sans KR"/>
              </a:rPr>
              <a:t>2 / 7</a:t>
            </a:r>
          </a:p>
        </p:txBody>
      </p:sp>
      <p:sp>
        <p:nvSpPr>
          <p:cNvPr id="14" name="Oval 13"/>
          <p:cNvSpPr/>
          <p:nvPr/>
        </p:nvSpPr>
        <p:spPr>
          <a:xfrm>
            <a:off x="530352" y="3642329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3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6" name="Oval 15"/>
          <p:cNvSpPr/>
          <p:nvPr/>
        </p:nvSpPr>
        <p:spPr>
          <a:xfrm>
            <a:off x="4447032" y="3642329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3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8" name="Oval 17"/>
          <p:cNvSpPr/>
          <p:nvPr/>
        </p:nvSpPr>
        <p:spPr>
          <a:xfrm>
            <a:off x="8363712" y="3642329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3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20" name="Oval 19"/>
          <p:cNvSpPr/>
          <p:nvPr/>
        </p:nvSpPr>
        <p:spPr>
          <a:xfrm>
            <a:off x="530352" y="4540204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3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2" name="Oval 21"/>
          <p:cNvSpPr/>
          <p:nvPr/>
        </p:nvSpPr>
        <p:spPr>
          <a:xfrm>
            <a:off x="4447032" y="4540204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3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24" name="Oval 23"/>
          <p:cNvSpPr/>
          <p:nvPr/>
        </p:nvSpPr>
        <p:spPr>
          <a:xfrm>
            <a:off x="8363712" y="4540204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3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34" name="슬라이드 번호 개체 틀 33">
            <a:extLst>
              <a:ext uri="{FF2B5EF4-FFF2-40B4-BE49-F238E27FC236}">
                <a16:creationId xmlns:a16="http://schemas.microsoft.com/office/drawing/2014/main" id="{604EBC54-6C15-591C-1168-C1896C64D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CB3E6-52AB-D441-8DCF-C23173057FDF}" type="slidenum">
              <a:rPr kumimoji="1" lang="ko-KR" altLang="en-US" smtClean="0"/>
              <a:t>3</a:t>
            </a:fld>
            <a:endParaRPr kumimoji="1" lang="ko-KR" altLang="en-US"/>
          </a:p>
        </p:txBody>
      </p:sp>
      <p:sp>
        <p:nvSpPr>
          <p:cNvPr id="35" name="텍스트 개체 틀 6">
            <a:extLst>
              <a:ext uri="{FF2B5EF4-FFF2-40B4-BE49-F238E27FC236}">
                <a16:creationId xmlns:a16="http://schemas.microsoft.com/office/drawing/2014/main" id="{45E3D238-39E5-30B9-8E38-90A8C8CA200B}"/>
              </a:ext>
            </a:extLst>
          </p:cNvPr>
          <p:cNvSpPr txBox="1">
            <a:spLocks/>
          </p:cNvSpPr>
          <p:nvPr/>
        </p:nvSpPr>
        <p:spPr>
          <a:xfrm>
            <a:off x="454518" y="2868612"/>
            <a:ext cx="11409342" cy="395869"/>
          </a:xfrm>
          <a:prstGeom prst="rect">
            <a:avLst/>
          </a:prstGeom>
        </p:spPr>
        <p:txBody>
          <a:bodyPr wrap="square" lIns="216000" tIns="72000">
            <a:spAutoFit/>
          </a:bodyPr>
          <a:lstStyle>
            <a:lvl1pPr marL="52388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kumimoji="1" lang="ko-KR" altLang="en-US" sz="2000" b="1" i="0" kern="1200" dirty="0">
                <a:solidFill>
                  <a:schemeClr val="tx1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938"/>
            <a:r>
              <a:rPr lang="en-US" altLang="ko-KR" dirty="0"/>
              <a:t>AI </a:t>
            </a:r>
            <a:r>
              <a:rPr lang="ko-KR" altLang="en-US" dirty="0"/>
              <a:t>기본 지침의 필수 구성요소</a:t>
            </a:r>
          </a:p>
        </p:txBody>
      </p:sp>
      <p:sp>
        <p:nvSpPr>
          <p:cNvPr id="36" name="Shape 1">
            <a:extLst>
              <a:ext uri="{FF2B5EF4-FFF2-40B4-BE49-F238E27FC236}">
                <a16:creationId xmlns:a16="http://schemas.microsoft.com/office/drawing/2014/main" id="{FB1F0F27-9FBF-F9BA-3F10-D2A514F6ADFE}"/>
              </a:ext>
            </a:extLst>
          </p:cNvPr>
          <p:cNvSpPr>
            <a:spLocks/>
          </p:cNvSpPr>
          <p:nvPr/>
        </p:nvSpPr>
        <p:spPr>
          <a:xfrm>
            <a:off x="463133" y="2836212"/>
            <a:ext cx="92492" cy="446844"/>
          </a:xfrm>
          <a:prstGeom prst="rect">
            <a:avLst/>
          </a:prstGeom>
          <a:solidFill>
            <a:srgbClr val="003876"/>
          </a:solidFill>
          <a:ln w="12700">
            <a:solidFill>
              <a:srgbClr val="0038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Rounded Rectangle 34">
            <a:extLst>
              <a:ext uri="{FF2B5EF4-FFF2-40B4-BE49-F238E27FC236}">
                <a16:creationId xmlns:a16="http://schemas.microsoft.com/office/drawing/2014/main" id="{35F53838-6277-4A6B-57D0-0BFD31C2083D}"/>
              </a:ext>
            </a:extLst>
          </p:cNvPr>
          <p:cNvSpPr/>
          <p:nvPr/>
        </p:nvSpPr>
        <p:spPr>
          <a:xfrm>
            <a:off x="401638" y="5351973"/>
            <a:ext cx="11543982" cy="512064"/>
          </a:xfrm>
          <a:prstGeom prst="roundRect">
            <a:avLst>
              <a:gd name="adj" fmla="val 0"/>
            </a:avLst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" rIns="182880" bIns="18288" rtlCol="0" anchor="ctr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AI</a:t>
            </a:r>
            <a:r>
              <a:rPr lang="ko-KR" altLang="en-US" sz="17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지침은 별도로 배포되는 파일을 확인하세요</a:t>
            </a:r>
            <a:r>
              <a:rPr lang="en-US" altLang="ko-KR" sz="17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.</a:t>
            </a:r>
            <a:endParaRPr sz="17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1D2D56-7756-EBBC-3FF7-43545AD55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분석가를 위한 </a:t>
            </a:r>
            <a:r>
              <a:rPr lang="en-US" altLang="ko-KR" dirty="0"/>
              <a:t>ChatGPT </a:t>
            </a:r>
            <a:r>
              <a:rPr lang="ko-KR" altLang="en-US" dirty="0"/>
              <a:t>지침 설정 </a:t>
            </a:r>
            <a:r>
              <a:rPr lang="en-US" altLang="ko-KR" dirty="0"/>
              <a:t>(1)</a:t>
            </a:r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C1AF211-B665-EBCF-B2BA-BA7BD484E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CB3E6-52AB-D441-8DCF-C23173057FDF}" type="slidenum">
              <a:rPr kumimoji="1" lang="ko-KR" altLang="en-US" smtClean="0"/>
              <a:t>4</a:t>
            </a:fld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6D4D0C-183F-4046-85ED-961422D342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ChatGPT </a:t>
            </a:r>
            <a:r>
              <a:rPr lang="ko-KR" altLang="en-US" dirty="0"/>
              <a:t>설정 열기</a:t>
            </a:r>
            <a:endParaRPr kumimoji="1"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FA59FB6B-5294-4BD9-5A18-66D65289144D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1241456" y="2101850"/>
            <a:ext cx="9866251" cy="447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703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A4481-70DB-7E92-2C23-A6C55BC72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1E2DE5-565A-EBB0-ACEC-8AA64FDD8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분석가를 위한 </a:t>
            </a:r>
            <a:r>
              <a:rPr lang="en-US" altLang="ko-KR" dirty="0"/>
              <a:t>ChatGPT </a:t>
            </a:r>
            <a:r>
              <a:rPr lang="ko-KR" altLang="en-US" dirty="0"/>
              <a:t>지침 설정 </a:t>
            </a:r>
            <a:r>
              <a:rPr lang="en-US" altLang="ko-KR" dirty="0"/>
              <a:t>(2)</a:t>
            </a:r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5231E83-E0A7-85FC-EEE5-72EBBAF43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CB3E6-52AB-D441-8DCF-C23173057FDF}" type="slidenum">
              <a:rPr kumimoji="1" lang="ko-KR" altLang="en-US" smtClean="0"/>
              <a:t>5</a:t>
            </a:fld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033CD12-96C5-4C2A-40E0-A0E3C67F32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ChatGPT </a:t>
            </a:r>
            <a:r>
              <a:rPr lang="ko-KR" altLang="en-US" dirty="0"/>
              <a:t>지침 입력</a:t>
            </a:r>
            <a:endParaRPr kumimoji="1" lang="ko-KR" altLang="en-US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58559644-257E-6658-7F47-71AF1721936C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1168993" y="2101850"/>
            <a:ext cx="10011177" cy="4470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60C6918-61B6-5A1C-1879-ED4410AE1F68}"/>
              </a:ext>
            </a:extLst>
          </p:cNvPr>
          <p:cNvSpPr txBox="1"/>
          <p:nvPr/>
        </p:nvSpPr>
        <p:spPr>
          <a:xfrm>
            <a:off x="5712899" y="3995351"/>
            <a:ext cx="24384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1600" b="1" dirty="0">
                <a:solidFill>
                  <a:srgbClr val="2B2B2F"/>
                </a:solidFill>
                <a:effectLst/>
                <a:latin typeface="Noto Sans KR" panose="020B0200000000000000" pitchFamily="34" charset="-128"/>
                <a:ea typeface="Noto Sans KR" panose="020B0200000000000000" pitchFamily="34" charset="-128"/>
              </a:rPr>
              <a:t>이 위치에 입력하는 내용은</a:t>
            </a:r>
            <a:endParaRPr kumimoji="1" lang="en-US" altLang="ko-KR" sz="1600" b="1" dirty="0">
              <a:solidFill>
                <a:srgbClr val="2B2B2F"/>
              </a:solidFill>
              <a:effectLst/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algn="ctr"/>
            <a:r>
              <a:rPr kumimoji="1" lang="en-US" altLang="ko-KR" sz="1600" b="1" dirty="0">
                <a:solidFill>
                  <a:srgbClr val="2B2B2F"/>
                </a:solidFill>
                <a:effectLst/>
                <a:latin typeface="Noto Sans KR" panose="020B0200000000000000" pitchFamily="34" charset="-128"/>
                <a:ea typeface="Noto Sans KR" panose="020B0200000000000000" pitchFamily="34" charset="-128"/>
              </a:rPr>
              <a:t>AI</a:t>
            </a:r>
            <a:r>
              <a:rPr kumimoji="1" lang="ko-KR" altLang="en-US" sz="1600" b="1" dirty="0">
                <a:solidFill>
                  <a:srgbClr val="2B2B2F"/>
                </a:solidFill>
                <a:effectLst/>
                <a:latin typeface="Noto Sans KR" panose="020B0200000000000000" pitchFamily="34" charset="-128"/>
                <a:ea typeface="Noto Sans KR" panose="020B0200000000000000" pitchFamily="34" charset="-128"/>
              </a:rPr>
              <a:t>가 요청을 처리하기 전</a:t>
            </a:r>
            <a:endParaRPr kumimoji="1" lang="en-US" altLang="ko-KR" sz="1600" b="1" dirty="0">
              <a:solidFill>
                <a:srgbClr val="2B2B2F"/>
              </a:solidFill>
              <a:effectLst/>
              <a:latin typeface="Noto Sans KR" panose="020B0200000000000000" pitchFamily="34" charset="-128"/>
              <a:ea typeface="Noto Sans KR" panose="020B0200000000000000" pitchFamily="34" charset="-128"/>
            </a:endParaRPr>
          </a:p>
          <a:p>
            <a:pPr algn="ctr"/>
            <a:r>
              <a:rPr kumimoji="1" lang="ko-KR" altLang="en-US" sz="1600" b="1" dirty="0">
                <a:solidFill>
                  <a:srgbClr val="2B2B2F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기본 지침으로 적용됩니다</a:t>
            </a:r>
            <a:r>
              <a:rPr kumimoji="1" lang="en-US" altLang="ko-KR" sz="1600" b="1" dirty="0">
                <a:solidFill>
                  <a:srgbClr val="2B2B2F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.</a:t>
            </a:r>
            <a:endParaRPr kumimoji="1" lang="ko-KR" altLang="en-US" sz="1600" b="1" dirty="0">
              <a:solidFill>
                <a:srgbClr val="2B2B2F"/>
              </a:solidFill>
              <a:effectLst/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92809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/>
          <a:lstStyle/>
          <a:p>
            <a:r>
              <a:rPr lang="ko-KR" altLang="en-US" dirty="0"/>
              <a:t>데이터 분석가를 위한 </a:t>
            </a:r>
            <a:r>
              <a:rPr lang="en" altLang="ko-KR" dirty="0"/>
              <a:t>ChatGPT </a:t>
            </a:r>
            <a:r>
              <a:rPr lang="ko-KR" altLang="en-US" dirty="0"/>
              <a:t>지침 설정 </a:t>
            </a:r>
            <a:r>
              <a:rPr lang="en-US" altLang="ko-KR" dirty="0"/>
              <a:t>(3)</a:t>
            </a:r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지침 내용</a:t>
            </a:r>
          </a:p>
        </p:txBody>
      </p:sp>
      <p:sp>
        <p:nvSpPr>
          <p:cNvPr id="40" name="텍스트 개체 틀 39">
            <a:extLst>
              <a:ext uri="{FF2B5EF4-FFF2-40B4-BE49-F238E27FC236}">
                <a16:creationId xmlns:a16="http://schemas.microsoft.com/office/drawing/2014/main" id="{E11B789A-5054-1FD3-40DA-9B90441B9A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4518" y="1591200"/>
            <a:ext cx="11409342" cy="395869"/>
          </a:xfrm>
        </p:spPr>
        <p:txBody>
          <a:bodyPr/>
          <a:lstStyle/>
          <a:p>
            <a:r>
              <a:rPr lang="ko-KR" altLang="en-US" dirty="0"/>
              <a:t>배포 파일 「데이터 분석 학습을 위한 </a:t>
            </a:r>
            <a:r>
              <a:rPr lang="en-US" altLang="ko-KR" dirty="0"/>
              <a:t>AI </a:t>
            </a:r>
            <a:r>
              <a:rPr lang="ko-KR" altLang="en-US" dirty="0"/>
              <a:t>사용 방법</a:t>
            </a:r>
            <a:r>
              <a:rPr lang="en-US" altLang="ko-KR" dirty="0"/>
              <a:t>(</a:t>
            </a:r>
            <a:r>
              <a:rPr lang="ko-KR" altLang="en-US" dirty="0"/>
              <a:t>프롬프트</a:t>
            </a:r>
            <a:r>
              <a:rPr lang="en-US" altLang="ko-KR" dirty="0"/>
              <a:t>).md</a:t>
            </a:r>
            <a:r>
              <a:rPr lang="ko-KR" altLang="en" dirty="0"/>
              <a:t>」</a:t>
            </a:r>
            <a:r>
              <a:rPr lang="ko-KR" altLang="en-US"/>
              <a:t>의 내용을 </a:t>
            </a:r>
            <a:r>
              <a:rPr lang="ko-KR" altLang="en-US" dirty="0"/>
              <a:t>그대로 사용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1254" y="2397138"/>
            <a:ext cx="10854669" cy="420624"/>
          </a:xfrm>
          <a:prstGeom prst="roundRect">
            <a:avLst>
              <a:gd name="adj" fmla="val 21739"/>
            </a:avLst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32303" tIns="27432" rIns="109728" bIns="27432" rtlCol="0" anchor="ctr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조교 역할 · 3영역 · 돕는 범위 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695" y="2452003"/>
            <a:ext cx="1627632" cy="310896"/>
          </a:xfrm>
          <a:prstGeom prst="roundRect">
            <a:avLst>
              <a:gd name="adj" fmla="val 17647"/>
            </a:avLst>
          </a:prstGeom>
          <a:solidFill>
            <a:srgbClr val="E1E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역할과 범위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5191" y="2488579"/>
            <a:ext cx="5669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1~3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1255" y="2863482"/>
            <a:ext cx="644652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32303" tIns="27432" rIns="109728" bIns="27432" rtlCol="0" anchor="ctr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출력 형태 · 요청 거부 · 설명 수위 · 코드 수정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695" y="2918346"/>
            <a:ext cx="1627632" cy="310896"/>
          </a:xfrm>
          <a:prstGeom prst="roundRect">
            <a:avLst>
              <a:gd name="adj" fmla="val 17647"/>
            </a:avLst>
          </a:prstGeom>
          <a:solidFill>
            <a:srgbClr val="E1E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코드 금지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5191" y="2954922"/>
            <a:ext cx="5669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4~7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1254" y="3329826"/>
            <a:ext cx="10854669" cy="420624"/>
          </a:xfrm>
          <a:prstGeom prst="roundRect">
            <a:avLst>
              <a:gd name="adj" fmla="val 21739"/>
            </a:avLst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32303" tIns="27432" rIns="109728" bIns="27432" rtlCol="0" anchor="ctr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근거 먼저 · 사실/추론 표기 · 창작 금지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695" y="3384691"/>
            <a:ext cx="1627632" cy="310896"/>
          </a:xfrm>
          <a:prstGeom prst="roundRect">
            <a:avLst>
              <a:gd name="adj" fmla="val 17647"/>
            </a:avLst>
          </a:prstGeom>
          <a:solidFill>
            <a:srgbClr val="E1E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사고 방식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85191" y="3421267"/>
            <a:ext cx="5669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8~10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1255" y="3796171"/>
            <a:ext cx="644652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32303" tIns="27432" rIns="109728" bIns="27432" rtlCol="0" anchor="ctr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처리 순서 · 자료구조 비교 · 에러 읽는 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695" y="3851034"/>
            <a:ext cx="1627632" cy="310896"/>
          </a:xfrm>
          <a:prstGeom prst="roundRect">
            <a:avLst>
              <a:gd name="adj" fmla="val 17647"/>
            </a:avLst>
          </a:prstGeom>
          <a:solidFill>
            <a:srgbClr val="E1E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파이썬 기본 코딩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85191" y="3887610"/>
            <a:ext cx="5669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11~14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1254" y="4262515"/>
            <a:ext cx="10854669" cy="420624"/>
          </a:xfrm>
          <a:prstGeom prst="roundRect">
            <a:avLst>
              <a:gd name="adj" fmla="val 21739"/>
            </a:avLst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32303" tIns="27432" rIns="109728" bIns="27432" rtlCol="0" anchor="ctr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절 단위 설계 · 행 수 원인 · 실행 계획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2695" y="4317378"/>
            <a:ext cx="1627632" cy="310896"/>
          </a:xfrm>
          <a:prstGeom prst="roundRect">
            <a:avLst>
              <a:gd name="adj" fmla="val 17647"/>
            </a:avLst>
          </a:prstGeom>
          <a:solidFill>
            <a:srgbClr val="E1E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85191" y="4353954"/>
            <a:ext cx="5669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15~18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1255" y="4728859"/>
            <a:ext cx="644652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32303" tIns="27432" rIns="109728" bIns="27432" rtlCol="0" anchor="ctr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대안 2개 · 전제와 한계 · 해석 범위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2695" y="4783722"/>
            <a:ext cx="1627632" cy="310896"/>
          </a:xfrm>
          <a:prstGeom prst="roundRect">
            <a:avLst>
              <a:gd name="adj" fmla="val 17647"/>
            </a:avLst>
          </a:prstGeom>
          <a:solidFill>
            <a:srgbClr val="E1E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데이터 분석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85191" y="4820298"/>
            <a:ext cx="5669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19~22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1254" y="5195203"/>
            <a:ext cx="10854669" cy="420624"/>
          </a:xfrm>
          <a:prstGeom prst="roundRect">
            <a:avLst>
              <a:gd name="adj" fmla="val 21739"/>
            </a:avLst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32303" tIns="27432" rIns="109728" bIns="27432" rtlCol="0" anchor="ctr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표·개조식 · 내가 확인할 점 · 출처 수위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2695" y="5250067"/>
            <a:ext cx="1627632" cy="310896"/>
          </a:xfrm>
          <a:prstGeom prst="roundRect">
            <a:avLst>
              <a:gd name="adj" fmla="val 17647"/>
            </a:avLst>
          </a:prstGeom>
          <a:solidFill>
            <a:srgbClr val="E1E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출력 형식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85191" y="5286643"/>
            <a:ext cx="5669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23~25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1255" y="5661547"/>
            <a:ext cx="644652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32303" tIns="27432" rIns="109728" bIns="27432" rtlCol="0" anchor="ctr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원어</a:t>
            </a:r>
            <a:r>
              <a:rPr sz="14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병기</a:t>
            </a:r>
            <a:r>
              <a:rPr sz="14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lang="ko-KR" altLang="en-US" sz="140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간결한 어투</a:t>
            </a:r>
            <a:r>
              <a:rPr sz="14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4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본론부터</a:t>
            </a:r>
            <a:endParaRPr sz="1400" b="0" dirty="0">
              <a:solidFill>
                <a:srgbClr val="1F2A3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02695" y="5716411"/>
            <a:ext cx="1627632" cy="310896"/>
          </a:xfrm>
          <a:prstGeom prst="roundRect">
            <a:avLst>
              <a:gd name="adj" fmla="val 17647"/>
            </a:avLst>
          </a:prstGeom>
          <a:solidFill>
            <a:srgbClr val="E1E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문체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85191" y="5752987"/>
            <a:ext cx="5669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26~28</a:t>
            </a:r>
          </a:p>
        </p:txBody>
      </p:sp>
      <p:sp>
        <p:nvSpPr>
          <p:cNvPr id="45" name="슬라이드 번호 개체 틀 44">
            <a:extLst>
              <a:ext uri="{FF2B5EF4-FFF2-40B4-BE49-F238E27FC236}">
                <a16:creationId xmlns:a16="http://schemas.microsoft.com/office/drawing/2014/main" id="{17D2D29E-7D8D-394B-4BFA-0FA3E1762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CB3E6-52AB-D441-8DCF-C23173057FDF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167" y="615719"/>
            <a:ext cx="11476566" cy="604675"/>
          </a:xfrm>
        </p:spPr>
        <p:txBody>
          <a:bodyPr wrap="square" lIns="0" tIns="0" rIns="0" bIns="0" anchor="ctr"/>
          <a:lstStyle/>
          <a:p>
            <a:r>
              <a:rPr lang="ko-KR" altLang="en-US" dirty="0"/>
              <a:t>질문을 잘 던지는 법 </a:t>
            </a:r>
            <a:r>
              <a:rPr lang="en-US" altLang="ko-KR" dirty="0"/>
              <a:t>— </a:t>
            </a:r>
            <a:r>
              <a:rPr lang="ko-KR" altLang="en-US" dirty="0"/>
              <a:t>프롬프트의 핵심 구성요소</a:t>
            </a:r>
          </a:p>
        </p:txBody>
      </p:sp>
      <p:sp>
        <p:nvSpPr>
          <p:cNvPr id="33" name="텍스트 개체 틀 32">
            <a:extLst>
              <a:ext uri="{FF2B5EF4-FFF2-40B4-BE49-F238E27FC236}">
                <a16:creationId xmlns:a16="http://schemas.microsoft.com/office/drawing/2014/main" id="{CC0BEDBF-F7F9-6A4D-A7BE-38EAC733BC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4518" y="1591200"/>
            <a:ext cx="11409342" cy="395869"/>
          </a:xfrm>
        </p:spPr>
        <p:txBody>
          <a:bodyPr/>
          <a:lstStyle/>
          <a:p>
            <a:r>
              <a:rPr lang="ko-KR" altLang="en-US" dirty="0"/>
              <a:t>맥락 </a:t>
            </a:r>
            <a:r>
              <a:rPr lang="en-US" altLang="ko-KR" dirty="0"/>
              <a:t>+ </a:t>
            </a:r>
            <a:r>
              <a:rPr lang="ko-KR" altLang="en-US" dirty="0"/>
              <a:t>상황 </a:t>
            </a:r>
            <a:r>
              <a:rPr lang="en-US" altLang="ko-KR" dirty="0"/>
              <a:t>+ </a:t>
            </a:r>
            <a:r>
              <a:rPr lang="ko-KR" altLang="en-US" dirty="0"/>
              <a:t>질문 </a:t>
            </a:r>
            <a:r>
              <a:rPr lang="en-US" altLang="ko-KR" dirty="0"/>
              <a:t>+ </a:t>
            </a:r>
            <a:r>
              <a:rPr lang="ko-KR" altLang="en-US" dirty="0"/>
              <a:t>제약 </a:t>
            </a:r>
            <a:r>
              <a:rPr lang="en-US" altLang="ko-KR" dirty="0"/>
              <a:t>+ </a:t>
            </a:r>
            <a:r>
              <a:rPr lang="ko-KR" altLang="en-US" dirty="0"/>
              <a:t>출력 형식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2336" y="2217462"/>
            <a:ext cx="3362356" cy="1143000"/>
          </a:xfrm>
          <a:prstGeom prst="roundRect">
            <a:avLst>
              <a:gd name="adj" fmla="val 8000"/>
            </a:avLst>
          </a:prstGeom>
          <a:solidFill>
            <a:srgbClr val="F1F3F6"/>
          </a:solidFill>
          <a:ln w="12700">
            <a:solidFill>
              <a:srgbClr val="C9D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54864" rIns="128016" bIns="54864" rtlCol="0" anchor="ctr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5B6B7C"/>
                </a:solidFill>
                <a:latin typeface="Noto Sans KR"/>
                <a:ea typeface="Noto Sans KR"/>
                <a:cs typeface="Noto Sans KR"/>
              </a:rPr>
              <a:t>나쁜</a:t>
            </a:r>
            <a:r>
              <a:rPr sz="1400" b="1" dirty="0">
                <a:solidFill>
                  <a:srgbClr val="5B6B7C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5B6B7C"/>
                </a:solidFill>
                <a:latin typeface="Noto Sans KR"/>
                <a:ea typeface="Noto Sans KR"/>
                <a:cs typeface="Noto Sans KR"/>
              </a:rPr>
              <a:t>예</a:t>
            </a:r>
            <a:endParaRPr sz="1400" b="1" dirty="0">
              <a:solidFill>
                <a:srgbClr val="5B6B7C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98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1" dirty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“이 </a:t>
            </a:r>
            <a:r>
              <a:rPr sz="1800" b="1" dirty="0" err="1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쿼리</a:t>
            </a:r>
            <a:r>
              <a:rPr sz="1800" b="1" dirty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00" b="1" dirty="0" err="1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왜</a:t>
            </a:r>
            <a:r>
              <a:rPr sz="1800" b="1" dirty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00" b="1" dirty="0" err="1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안</a:t>
            </a:r>
            <a:r>
              <a:rPr sz="1800" b="1" dirty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00" b="1" dirty="0" err="1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돼</a:t>
            </a:r>
            <a:r>
              <a:rPr sz="1800" b="1" dirty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? </a:t>
            </a:r>
            <a:r>
              <a:rPr sz="1800" b="1" dirty="0" err="1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고쳐줘</a:t>
            </a:r>
            <a:r>
              <a:rPr sz="1800" b="1" dirty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47229"/>
            <a:ext cx="274320" cy="274320"/>
          </a:xfrm>
          <a:prstGeom prst="roundRect">
            <a:avLst>
              <a:gd name="adj" fmla="val 20000"/>
            </a:avLst>
          </a:prstGeom>
          <a:noFill/>
          <a:ln w="15875">
            <a:solidFill>
              <a:srgbClr val="5B6B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625449" y="2724039"/>
            <a:ext cx="120701" cy="120701"/>
          </a:xfrm>
          <a:prstGeom prst="line">
            <a:avLst/>
          </a:prstGeom>
          <a:ln w="22225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625449" y="2724039"/>
            <a:ext cx="120701" cy="120701"/>
          </a:xfrm>
          <a:prstGeom prst="line">
            <a:avLst/>
          </a:prstGeom>
          <a:ln w="22225">
            <a:solidFill>
              <a:srgbClr val="5B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02336" y="3598205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원칙 3가지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5" y="3872525"/>
            <a:ext cx="3362353" cy="804672"/>
          </a:xfrm>
          <a:prstGeom prst="roundRect">
            <a:avLst>
              <a:gd name="adj" fmla="val 11363"/>
            </a:avLst>
          </a:prstGeom>
          <a:solidFill>
            <a:srgbClr val="EC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3776" tIns="27432" rIns="109728" bIns="27432" rtlCol="0" anchor="ctr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영역을</a:t>
            </a:r>
            <a:r>
              <a:rPr sz="1400" b="0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dirty="0" err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먼저</a:t>
            </a:r>
            <a:r>
              <a:rPr sz="1400" b="0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dirty="0" err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밝힌다</a:t>
            </a:r>
            <a:r>
              <a:rPr sz="1400" b="0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 — </a:t>
            </a:r>
            <a:br>
              <a:rPr lang="en-US" sz="1400" b="0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</a:br>
            <a:r>
              <a:rPr sz="1400" b="0" dirty="0" err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SQL인지</a:t>
            </a:r>
            <a:r>
              <a:rPr sz="1400" b="0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dirty="0" err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파이썬인지</a:t>
            </a:r>
            <a:r>
              <a:rPr sz="1400" b="0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dirty="0" err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분석인지</a:t>
            </a:r>
            <a:endParaRPr sz="1400" b="0" dirty="0">
              <a:solidFill>
                <a:srgbClr val="00275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21208" y="4119413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3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5" y="4777782"/>
            <a:ext cx="3362345" cy="804672"/>
          </a:xfrm>
          <a:prstGeom prst="roundRect">
            <a:avLst>
              <a:gd name="adj" fmla="val 11363"/>
            </a:avLst>
          </a:prstGeom>
          <a:solidFill>
            <a:srgbClr val="EC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3776" tIns="27432" rIns="109728" bIns="27432" rtlCol="0" anchor="ctr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코드</a:t>
            </a:r>
            <a:r>
              <a:rPr sz="1400" b="0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dirty="0" err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대신</a:t>
            </a:r>
            <a:r>
              <a:rPr sz="1400" b="0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dirty="0" err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에러</a:t>
            </a:r>
            <a:r>
              <a:rPr sz="1400" b="0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dirty="0" err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메시지·표</a:t>
            </a:r>
            <a:r>
              <a:rPr sz="1400" b="0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dirty="0" err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구조</a:t>
            </a:r>
            <a:r>
              <a:rPr sz="1400" b="0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·</a:t>
            </a:r>
            <a:br>
              <a:rPr lang="en-US" sz="1400" b="0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</a:br>
            <a:r>
              <a:rPr sz="1400" b="0" dirty="0" err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결과를</a:t>
            </a:r>
            <a:r>
              <a:rPr sz="1400" b="0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dirty="0" err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붙인다</a:t>
            </a:r>
            <a:endParaRPr sz="1400" b="0" dirty="0">
              <a:solidFill>
                <a:srgbClr val="00275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21208" y="5024669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3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5" y="5683038"/>
            <a:ext cx="3362337" cy="804672"/>
          </a:xfrm>
          <a:prstGeom prst="roundRect">
            <a:avLst>
              <a:gd name="adj" fmla="val 11363"/>
            </a:avLst>
          </a:prstGeom>
          <a:solidFill>
            <a:srgbClr val="EC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3776" tIns="27432" rIns="109728" bIns="27432" rtlCol="0" anchor="ctr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한 번에 다 묻지 말고 한 단계씩</a:t>
            </a:r>
          </a:p>
        </p:txBody>
      </p:sp>
      <p:sp>
        <p:nvSpPr>
          <p:cNvPr id="15" name="Oval 14"/>
          <p:cNvSpPr/>
          <p:nvPr/>
        </p:nvSpPr>
        <p:spPr>
          <a:xfrm>
            <a:off x="521208" y="5929926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3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9935" y="2199174"/>
            <a:ext cx="7818120" cy="2111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좋은</a:t>
            </a:r>
            <a:r>
              <a:rPr sz="1400" b="1" dirty="0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예</a:t>
            </a:r>
            <a:r>
              <a:rPr sz="1400" b="1" dirty="0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 — </a:t>
            </a:r>
            <a:r>
              <a:rPr lang="ko-KR" altLang="en-US" sz="1400" b="1" dirty="0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핵심 구성요소</a:t>
            </a:r>
            <a:r>
              <a:rPr sz="1400" b="1" dirty="0" err="1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를</a:t>
            </a:r>
            <a:r>
              <a:rPr sz="1400" b="1" dirty="0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갖춰</a:t>
            </a:r>
            <a:r>
              <a:rPr sz="1400" b="1" dirty="0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묻는다</a:t>
            </a:r>
            <a:r>
              <a:rPr sz="1400" b="1" dirty="0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  (</a:t>
            </a:r>
            <a:r>
              <a:rPr lang="ko-KR" altLang="en-US" sz="1400" b="1" dirty="0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맥락</a:t>
            </a:r>
            <a:r>
              <a:rPr lang="en-US" altLang="ko-KR" sz="1400" b="1" dirty="0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,</a:t>
            </a:r>
            <a:r>
              <a:rPr lang="ko-KR" altLang="en-US" sz="1400" b="1" dirty="0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 상황</a:t>
            </a:r>
            <a:r>
              <a:rPr lang="en-US" altLang="ko-KR" sz="1400" b="1" dirty="0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,</a:t>
            </a:r>
            <a:r>
              <a:rPr lang="ko-KR" altLang="en-US" sz="1400" b="1" dirty="0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 질문</a:t>
            </a:r>
            <a:r>
              <a:rPr lang="en-US" altLang="ko-KR" sz="1400" b="1" dirty="0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,</a:t>
            </a:r>
            <a:r>
              <a:rPr lang="ko-KR" altLang="en-US" sz="1400" b="1" dirty="0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 제약</a:t>
            </a:r>
            <a:r>
              <a:rPr lang="en-US" altLang="ko-KR" sz="1400" b="1" dirty="0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,</a:t>
            </a:r>
            <a:r>
              <a:rPr lang="ko-KR" altLang="en-US" sz="1400" b="1" dirty="0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 출력</a:t>
            </a:r>
            <a:r>
              <a:rPr sz="1400" b="1" dirty="0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59935" y="2491781"/>
            <a:ext cx="7818120" cy="713232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5875">
            <a:solidFill>
              <a:srgbClr val="B0A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70432" tIns="36576" rIns="146304" bIns="36576" rtlCol="0" anchor="ctr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SQL </a:t>
            </a: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수업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실습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중</a:t>
            </a:r>
            <a:r>
              <a:rPr lang="ko-KR" altLang="en-US"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이야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. </a:t>
            </a: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쿼리는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내가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직접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작성</a:t>
            </a:r>
            <a:r>
              <a:rPr lang="ko-KR" altLang="en-US"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할거야</a:t>
            </a:r>
            <a:endParaRPr sz="1500" b="0" dirty="0">
              <a:solidFill>
                <a:srgbClr val="1F2A3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187951" y="2683805"/>
            <a:ext cx="914400" cy="329184"/>
          </a:xfrm>
          <a:prstGeom prst="roundRect">
            <a:avLst>
              <a:gd name="adj" fmla="val 16666"/>
            </a:avLst>
          </a:prstGeom>
          <a:solidFill>
            <a:srgbClr val="DDD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[맥락]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45151" y="3214158"/>
            <a:ext cx="0" cy="91440"/>
          </a:xfrm>
          <a:prstGeom prst="line">
            <a:avLst/>
          </a:prstGeom>
          <a:ln w="15875">
            <a:solidFill>
              <a:srgbClr val="B0A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059935" y="3314741"/>
            <a:ext cx="7818120" cy="713232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5875">
            <a:solidFill>
              <a:srgbClr val="B0A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70432" tIns="36576" rIns="146304" bIns="36576" rtlCol="0" anchor="ctr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주문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테이블과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고객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테이블을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고객ID로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조인했더니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50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내 예상보다 행 수가 많아졌어</a:t>
            </a:r>
            <a:r>
              <a:rPr lang="en-US" altLang="ko-KR" sz="150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.</a:t>
            </a:r>
            <a:endParaRPr sz="1500" b="0" dirty="0">
              <a:solidFill>
                <a:srgbClr val="1F2A3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187951" y="3506765"/>
            <a:ext cx="914400" cy="329184"/>
          </a:xfrm>
          <a:prstGeom prst="roundRect">
            <a:avLst>
              <a:gd name="adj" fmla="val 16666"/>
            </a:avLst>
          </a:prstGeom>
          <a:solidFill>
            <a:srgbClr val="DDD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[상황]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645151" y="4037117"/>
            <a:ext cx="0" cy="91441"/>
          </a:xfrm>
          <a:prstGeom prst="line">
            <a:avLst/>
          </a:prstGeom>
          <a:ln w="15875">
            <a:solidFill>
              <a:srgbClr val="B0A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059935" y="4137701"/>
            <a:ext cx="7818120" cy="713232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5875">
            <a:solidFill>
              <a:srgbClr val="B0A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70432" tIns="36576" rIns="146304" bIns="36576" rtlCol="0" anchor="ctr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원인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후보와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내가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직접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확인할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방법</a:t>
            </a:r>
            <a:r>
              <a:rPr lang="ko-KR" altLang="en-US"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을 알려줘</a:t>
            </a:r>
            <a:r>
              <a:rPr lang="en-US" altLang="ko-KR"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.</a:t>
            </a:r>
            <a:endParaRPr sz="1500" b="0" dirty="0">
              <a:solidFill>
                <a:srgbClr val="1F2A3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187951" y="4329726"/>
            <a:ext cx="914400" cy="329184"/>
          </a:xfrm>
          <a:prstGeom prst="roundRect">
            <a:avLst>
              <a:gd name="adj" fmla="val 16666"/>
            </a:avLst>
          </a:prstGeom>
          <a:solidFill>
            <a:srgbClr val="DDD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[질문]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645151" y="4860078"/>
            <a:ext cx="0" cy="91440"/>
          </a:xfrm>
          <a:prstGeom prst="line">
            <a:avLst/>
          </a:prstGeom>
          <a:ln w="15875">
            <a:solidFill>
              <a:srgbClr val="B0A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059935" y="4960662"/>
            <a:ext cx="7818120" cy="713232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905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70432" tIns="36576" rIns="146304" bIns="36576" rtlCol="0" anchor="ctr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쿼리문은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주지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말</a:t>
            </a:r>
            <a:r>
              <a:rPr lang="ko-KR" altLang="en-US" sz="150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고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. </a:t>
            </a: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개념과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순서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위주로</a:t>
            </a:r>
            <a:r>
              <a:rPr lang="ko-KR" altLang="en-US"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정리해줘</a:t>
            </a:r>
            <a:endParaRPr sz="1500" b="0" dirty="0">
              <a:solidFill>
                <a:srgbClr val="1F2A3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187951" y="5152686"/>
            <a:ext cx="914400" cy="329184"/>
          </a:xfrm>
          <a:prstGeom prst="roundRect">
            <a:avLst>
              <a:gd name="adj" fmla="val 16666"/>
            </a:avLst>
          </a:prstGeom>
          <a:solidFill>
            <a:srgbClr val="FFF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[제약]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645151" y="5683038"/>
            <a:ext cx="0" cy="91440"/>
          </a:xfrm>
          <a:prstGeom prst="line">
            <a:avLst/>
          </a:prstGeom>
          <a:ln w="15875">
            <a:solidFill>
              <a:srgbClr val="B0A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059935" y="5783621"/>
            <a:ext cx="7818120" cy="713232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 w="15875">
            <a:solidFill>
              <a:srgbClr val="B0A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70432" tIns="36576" rIns="146304" bIns="36576" rtlCol="0" anchor="ctr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원인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후보를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표로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정리하고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마지막에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내가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확인할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50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부분을 제시해줘</a:t>
            </a:r>
            <a:r>
              <a:rPr lang="en-US" altLang="ko-KR" sz="150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.</a:t>
            </a:r>
            <a:endParaRPr sz="1500" b="0" dirty="0">
              <a:solidFill>
                <a:srgbClr val="1F2A3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187951" y="5975645"/>
            <a:ext cx="914400" cy="329184"/>
          </a:xfrm>
          <a:prstGeom prst="roundRect">
            <a:avLst>
              <a:gd name="adj" fmla="val 16666"/>
            </a:avLst>
          </a:prstGeom>
          <a:solidFill>
            <a:srgbClr val="DDD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[출력]</a:t>
            </a:r>
          </a:p>
        </p:txBody>
      </p:sp>
      <p:sp>
        <p:nvSpPr>
          <p:cNvPr id="36" name="슬라이드 번호 개체 틀 35">
            <a:extLst>
              <a:ext uri="{FF2B5EF4-FFF2-40B4-BE49-F238E27FC236}">
                <a16:creationId xmlns:a16="http://schemas.microsoft.com/office/drawing/2014/main" id="{76682426-300E-5860-9725-317B6704F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CB3E6-52AB-D441-8DCF-C23173057FDF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167" y="615719"/>
            <a:ext cx="11476566" cy="604675"/>
          </a:xfrm>
        </p:spPr>
        <p:txBody>
          <a:bodyPr wrap="square" lIns="0" tIns="0" rIns="0" bIns="0" anchor="ctr"/>
          <a:lstStyle/>
          <a:p>
            <a:r>
              <a:rPr lang="en" dirty="0" err="1"/>
              <a:t>AI</a:t>
            </a:r>
            <a:r>
              <a:rPr lang="ko-KR" altLang="en-US" dirty="0" err="1"/>
              <a:t>가</a:t>
            </a:r>
            <a:r>
              <a:rPr lang="ko-KR" altLang="en-US" dirty="0"/>
              <a:t> 자주 틀리는 </a:t>
            </a:r>
            <a:r>
              <a:rPr lang="en-US" altLang="ko-KR" dirty="0"/>
              <a:t>5</a:t>
            </a:r>
            <a:r>
              <a:rPr lang="ko-KR" altLang="en-US" dirty="0"/>
              <a:t>가지</a:t>
            </a:r>
          </a:p>
        </p:txBody>
      </p:sp>
      <p:sp>
        <p:nvSpPr>
          <p:cNvPr id="26" name="슬라이드 번호 개체 틀 25">
            <a:extLst>
              <a:ext uri="{FF2B5EF4-FFF2-40B4-BE49-F238E27FC236}">
                <a16:creationId xmlns:a16="http://schemas.microsoft.com/office/drawing/2014/main" id="{1CC59E44-FE5E-5079-1D11-D721FD046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72697"/>
            <a:ext cx="2743200" cy="187555"/>
          </a:xfrm>
        </p:spPr>
        <p:txBody>
          <a:bodyPr/>
          <a:lstStyle/>
          <a:p>
            <a:fld id="{9B2CB3E6-52AB-D441-8DCF-C23173057FDF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819EEF22-2B52-07B5-2896-114F497485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4518" y="1591200"/>
            <a:ext cx="11409342" cy="395869"/>
          </a:xfrm>
        </p:spPr>
        <p:txBody>
          <a:bodyPr/>
          <a:lstStyle/>
          <a:p>
            <a:r>
              <a:rPr lang="en" altLang="ko-KR" dirty="0"/>
              <a:t>AI</a:t>
            </a:r>
            <a:r>
              <a:rPr lang="ko-KR" altLang="en-US" dirty="0"/>
              <a:t>는 모른다고 말하는 대신 그럴듯하게 채운다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2336" y="2176272"/>
            <a:ext cx="56007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E6C8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64592" bIns="54864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내 것을 아는 척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500" b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본 적 없는 테이블명·컬럼명·변수명·수치를 지어냄</a:t>
            </a:r>
          </a:p>
        </p:txBody>
      </p:sp>
      <p:sp>
        <p:nvSpPr>
          <p:cNvPr id="6" name="Oval 5"/>
          <p:cNvSpPr/>
          <p:nvPr/>
        </p:nvSpPr>
        <p:spPr>
          <a:xfrm>
            <a:off x="557784" y="2370582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3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7356" y="2176272"/>
            <a:ext cx="56007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E6C8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64592" bIns="54864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추측을 사실처럼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500" b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추론임을 밝히지 않고 단정해서 서술함</a:t>
            </a:r>
          </a:p>
        </p:txBody>
      </p:sp>
      <p:sp>
        <p:nvSpPr>
          <p:cNvPr id="8" name="Oval 7"/>
          <p:cNvSpPr/>
          <p:nvPr/>
        </p:nvSpPr>
        <p:spPr>
          <a:xfrm>
            <a:off x="6432804" y="2370582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3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" y="3227832"/>
            <a:ext cx="3642360" cy="1572768"/>
          </a:xfrm>
          <a:prstGeom prst="roundRect">
            <a:avLst>
              <a:gd name="adj" fmla="val 5813"/>
            </a:avLst>
          </a:prstGeom>
          <a:solidFill>
            <a:srgbClr val="FFFFFF"/>
          </a:solidFill>
          <a:ln w="15875">
            <a:solidFill>
              <a:srgbClr val="E6C8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64592" bIns="54864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dirty="0" err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원인</a:t>
            </a:r>
            <a:r>
              <a:rPr sz="1700" b="1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700" b="1" dirty="0" err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단정</a:t>
            </a:r>
            <a:endParaRPr sz="1700" b="1" dirty="0">
              <a:solidFill>
                <a:srgbClr val="002752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에러·이상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결과의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원인을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하나로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</a:t>
            </a:r>
            <a:br>
              <a:rPr lang="en-US"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</a:b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못박음</a:t>
            </a:r>
            <a:endParaRPr sz="1500" b="0" dirty="0">
              <a:solidFill>
                <a:srgbClr val="1F2A3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57784" y="3680841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3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9016" y="3227832"/>
            <a:ext cx="3642360" cy="1572768"/>
          </a:xfrm>
          <a:prstGeom prst="roundRect">
            <a:avLst>
              <a:gd name="adj" fmla="val 5813"/>
            </a:avLst>
          </a:prstGeom>
          <a:solidFill>
            <a:srgbClr val="FFFFFF"/>
          </a:solidFill>
          <a:ln w="15875">
            <a:solidFill>
              <a:srgbClr val="E6C8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64592" bIns="54864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출처 날조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500" b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없는 문서·가짜 링크를 만들어 냄</a:t>
            </a:r>
          </a:p>
        </p:txBody>
      </p:sp>
      <p:sp>
        <p:nvSpPr>
          <p:cNvPr id="12" name="Oval 11"/>
          <p:cNvSpPr/>
          <p:nvPr/>
        </p:nvSpPr>
        <p:spPr>
          <a:xfrm>
            <a:off x="4474464" y="3774186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3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35696" y="3227832"/>
            <a:ext cx="3642360" cy="1572768"/>
          </a:xfrm>
          <a:prstGeom prst="roundRect">
            <a:avLst>
              <a:gd name="adj" fmla="val 5813"/>
            </a:avLst>
          </a:prstGeom>
          <a:solidFill>
            <a:srgbClr val="FFFAE8"/>
          </a:solidFill>
          <a:ln w="222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64592" bIns="54864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dirty="0" err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해석·결론</a:t>
            </a:r>
            <a:r>
              <a:rPr sz="1700" b="1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700" b="1" dirty="0" err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대행</a:t>
            </a:r>
            <a:endParaRPr sz="1700" b="1" dirty="0">
              <a:solidFill>
                <a:srgbClr val="002752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내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해석보다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먼저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결론을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써</a:t>
            </a:r>
            <a:r>
              <a:rPr sz="1500" b="0" dirty="0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1F2A37"/>
                </a:solidFill>
                <a:latin typeface="Noto Sans KR"/>
                <a:ea typeface="Noto Sans KR"/>
                <a:cs typeface="Noto Sans KR"/>
              </a:rPr>
              <a:t>줌</a:t>
            </a:r>
            <a:endParaRPr sz="1500" b="0" dirty="0">
              <a:solidFill>
                <a:srgbClr val="1F2A37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1" dirty="0" err="1">
                <a:solidFill>
                  <a:srgbClr val="8A6400"/>
                </a:solidFill>
                <a:latin typeface="Noto Sans KR"/>
                <a:ea typeface="Noto Sans KR"/>
                <a:cs typeface="Noto Sans KR"/>
              </a:rPr>
              <a:t>발표·질의응답에서</a:t>
            </a:r>
            <a:r>
              <a:rPr sz="1500" b="1" dirty="0">
                <a:solidFill>
                  <a:srgbClr val="8A64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1" dirty="0" err="1">
                <a:solidFill>
                  <a:srgbClr val="8A6400"/>
                </a:solidFill>
                <a:latin typeface="Noto Sans KR"/>
                <a:ea typeface="Noto Sans KR"/>
                <a:cs typeface="Noto Sans KR"/>
              </a:rPr>
              <a:t>무너짐</a:t>
            </a:r>
            <a:r>
              <a:rPr sz="1500" b="1" dirty="0">
                <a:solidFill>
                  <a:srgbClr val="8A6400"/>
                </a:solidFill>
                <a:latin typeface="Noto Sans KR"/>
                <a:ea typeface="Noto Sans KR"/>
                <a:cs typeface="Noto Sans KR"/>
              </a:rPr>
              <a:t> </a:t>
            </a:r>
            <a:br>
              <a:rPr lang="en-US" sz="1500" b="1" dirty="0">
                <a:solidFill>
                  <a:srgbClr val="8A6400"/>
                </a:solidFill>
                <a:latin typeface="Noto Sans KR"/>
                <a:ea typeface="Noto Sans KR"/>
                <a:cs typeface="Noto Sans KR"/>
              </a:rPr>
            </a:br>
            <a:r>
              <a:rPr sz="1500" b="1" dirty="0">
                <a:solidFill>
                  <a:srgbClr val="8A6400"/>
                </a:solidFill>
                <a:latin typeface="Noto Sans KR"/>
                <a:ea typeface="Noto Sans KR"/>
                <a:cs typeface="Noto Sans KR"/>
              </a:rPr>
              <a:t>— </a:t>
            </a:r>
            <a:r>
              <a:rPr sz="1500" b="1" dirty="0" err="1">
                <a:solidFill>
                  <a:srgbClr val="8A6400"/>
                </a:solidFill>
                <a:latin typeface="Noto Sans KR"/>
                <a:ea typeface="Noto Sans KR"/>
                <a:cs typeface="Noto Sans KR"/>
              </a:rPr>
              <a:t>내</a:t>
            </a:r>
            <a:r>
              <a:rPr sz="1500" b="1" dirty="0">
                <a:solidFill>
                  <a:srgbClr val="8A64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1" dirty="0" err="1">
                <a:solidFill>
                  <a:srgbClr val="8A6400"/>
                </a:solidFill>
                <a:latin typeface="Noto Sans KR"/>
                <a:ea typeface="Noto Sans KR"/>
                <a:cs typeface="Noto Sans KR"/>
              </a:rPr>
              <a:t>해석이</a:t>
            </a:r>
            <a:r>
              <a:rPr sz="1500" b="1" dirty="0">
                <a:solidFill>
                  <a:srgbClr val="8A64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1" dirty="0" err="1">
                <a:solidFill>
                  <a:srgbClr val="8A6400"/>
                </a:solidFill>
                <a:latin typeface="Noto Sans KR"/>
                <a:ea typeface="Noto Sans KR"/>
                <a:cs typeface="Noto Sans KR"/>
              </a:rPr>
              <a:t>먼저</a:t>
            </a:r>
            <a:r>
              <a:rPr sz="1500" b="1" dirty="0">
                <a:solidFill>
                  <a:srgbClr val="8A640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500" b="1" dirty="0" err="1">
                <a:solidFill>
                  <a:srgbClr val="8A6400"/>
                </a:solidFill>
                <a:latin typeface="Noto Sans KR"/>
                <a:ea typeface="Noto Sans KR"/>
                <a:cs typeface="Noto Sans KR"/>
              </a:rPr>
              <a:t>AI는</a:t>
            </a:r>
            <a:r>
              <a:rPr sz="1500" b="1" dirty="0">
                <a:solidFill>
                  <a:srgbClr val="8A64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1" dirty="0" err="1">
                <a:solidFill>
                  <a:srgbClr val="8A6400"/>
                </a:solidFill>
                <a:latin typeface="Noto Sans KR"/>
                <a:ea typeface="Noto Sans KR"/>
                <a:cs typeface="Noto Sans KR"/>
              </a:rPr>
              <a:t>점검자</a:t>
            </a:r>
            <a:endParaRPr sz="1500" b="1" dirty="0">
              <a:solidFill>
                <a:srgbClr val="8A640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8391144" y="3543046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87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87B00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" y="5038344"/>
            <a:ext cx="5486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876"/>
                </a:solidFill>
                <a:latin typeface="Noto Sans KR"/>
                <a:ea typeface="Noto Sans KR"/>
                <a:cs typeface="Noto Sans KR"/>
              </a:rPr>
              <a:t>답을 받은 뒤 3단 체크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" y="5312663"/>
            <a:ext cx="3642360" cy="1131697"/>
          </a:xfrm>
          <a:prstGeom prst="roundRect">
            <a:avLst>
              <a:gd name="adj" fmla="val 10000"/>
            </a:avLst>
          </a:prstGeom>
          <a:solidFill>
            <a:srgbClr val="FDF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12064" tIns="27432" rIns="109728" bIns="2743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직접 돌려서 같은 결과가 나오는가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741351"/>
            <a:ext cx="274320" cy="274320"/>
          </a:xfrm>
          <a:prstGeom prst="roundRect">
            <a:avLst>
              <a:gd name="adj" fmla="val 20000"/>
            </a:avLst>
          </a:prstGeom>
          <a:noFill/>
          <a:ln w="15875">
            <a:solidFill>
              <a:srgbClr val="003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Freeform 17"/>
          <p:cNvSpPr/>
          <p:nvPr/>
        </p:nvSpPr>
        <p:spPr>
          <a:xfrm>
            <a:off x="614476" y="5820904"/>
            <a:ext cx="148133" cy="115215"/>
          </a:xfrm>
          <a:custGeom>
            <a:avLst/>
            <a:gdLst/>
            <a:ahLst/>
            <a:cxnLst/>
            <a:rect l="l" t="t" r="r" b="b"/>
            <a:pathLst>
              <a:path w="148133" h="115215">
                <a:moveTo>
                  <a:pt x="0" y="60351"/>
                </a:moveTo>
                <a:lnTo>
                  <a:pt x="54864" y="115215"/>
                </a:lnTo>
                <a:lnTo>
                  <a:pt x="148133" y="0"/>
                </a:lnTo>
              </a:path>
            </a:pathLst>
          </a:custGeom>
          <a:noFill/>
          <a:ln w="22225">
            <a:solidFill>
              <a:srgbClr val="003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319016" y="5312663"/>
            <a:ext cx="3642360" cy="1131697"/>
          </a:xfrm>
          <a:prstGeom prst="roundRect">
            <a:avLst>
              <a:gd name="adj" fmla="val 10000"/>
            </a:avLst>
          </a:prstGeom>
          <a:solidFill>
            <a:srgbClr val="FDF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12064" tIns="27432" rIns="109728" bIns="2743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dirty="0" err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내</a:t>
            </a:r>
            <a:r>
              <a:rPr sz="1500" b="0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영역</a:t>
            </a:r>
            <a:r>
              <a:rPr sz="1500" b="0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sz="1500" b="0" dirty="0" err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SQL·파이썬·분석</a:t>
            </a:r>
            <a:r>
              <a:rPr sz="1500" b="0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)</a:t>
            </a:r>
            <a:r>
              <a:rPr sz="1500" b="0" dirty="0" err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에</a:t>
            </a:r>
            <a:r>
              <a:rPr sz="1500" b="0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맞는</a:t>
            </a:r>
            <a:r>
              <a:rPr sz="1500" b="0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 </a:t>
            </a:r>
            <a:br>
              <a:rPr lang="en-US" sz="1500" b="0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</a:br>
            <a:r>
              <a:rPr sz="1500" b="0" dirty="0" err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답인가</a:t>
            </a:r>
            <a:endParaRPr sz="1500" b="0" dirty="0">
              <a:solidFill>
                <a:srgbClr val="00275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465320" y="5741351"/>
            <a:ext cx="274320" cy="274320"/>
          </a:xfrm>
          <a:prstGeom prst="roundRect">
            <a:avLst>
              <a:gd name="adj" fmla="val 20000"/>
            </a:avLst>
          </a:prstGeom>
          <a:noFill/>
          <a:ln w="15875">
            <a:solidFill>
              <a:srgbClr val="003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Freeform 20"/>
          <p:cNvSpPr/>
          <p:nvPr/>
        </p:nvSpPr>
        <p:spPr>
          <a:xfrm>
            <a:off x="4531156" y="5820904"/>
            <a:ext cx="148133" cy="115215"/>
          </a:xfrm>
          <a:custGeom>
            <a:avLst/>
            <a:gdLst/>
            <a:ahLst/>
            <a:cxnLst/>
            <a:rect l="l" t="t" r="r" b="b"/>
            <a:pathLst>
              <a:path w="148133" h="115215">
                <a:moveTo>
                  <a:pt x="0" y="60351"/>
                </a:moveTo>
                <a:lnTo>
                  <a:pt x="54864" y="115215"/>
                </a:lnTo>
                <a:lnTo>
                  <a:pt x="148133" y="0"/>
                </a:lnTo>
              </a:path>
            </a:pathLst>
          </a:custGeom>
          <a:noFill/>
          <a:ln w="22225">
            <a:solidFill>
              <a:srgbClr val="003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235696" y="5312663"/>
            <a:ext cx="3642360" cy="1131697"/>
          </a:xfrm>
          <a:prstGeom prst="roundRect">
            <a:avLst>
              <a:gd name="adj" fmla="val 10000"/>
            </a:avLst>
          </a:prstGeom>
          <a:solidFill>
            <a:srgbClr val="FDF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12064" tIns="27432" rIns="109728" bIns="2743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dirty="0" err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답이</a:t>
            </a:r>
            <a:r>
              <a:rPr sz="1500" b="0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지침을</a:t>
            </a:r>
            <a:r>
              <a:rPr sz="1500" b="0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벗어나면</a:t>
            </a:r>
            <a:r>
              <a:rPr sz="1500" b="0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500" b="0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전체 대화 내용을 </a:t>
            </a:r>
            <a:r>
              <a:rPr lang="en-US" sz="1500" b="0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AI</a:t>
            </a:r>
            <a:r>
              <a:rPr lang="ko-KR" altLang="en-US" sz="1500" b="0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가 감당하지 못하는 상황이므로</a:t>
            </a:r>
            <a:r>
              <a:rPr sz="1500" b="0" dirty="0" err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새</a:t>
            </a:r>
            <a:r>
              <a:rPr sz="1500" b="0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대화를</a:t>
            </a:r>
            <a:r>
              <a:rPr sz="1500" b="0" dirty="0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0" dirty="0" err="1">
                <a:solidFill>
                  <a:srgbClr val="002752"/>
                </a:solidFill>
                <a:latin typeface="Noto Sans KR"/>
                <a:ea typeface="Noto Sans KR"/>
                <a:cs typeface="Noto Sans KR"/>
              </a:rPr>
              <a:t>연다</a:t>
            </a:r>
            <a:endParaRPr sz="1500" b="0" dirty="0">
              <a:solidFill>
                <a:srgbClr val="00275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382000" y="5741351"/>
            <a:ext cx="274320" cy="274320"/>
          </a:xfrm>
          <a:prstGeom prst="roundRect">
            <a:avLst>
              <a:gd name="adj" fmla="val 20000"/>
            </a:avLst>
          </a:prstGeom>
          <a:noFill/>
          <a:ln w="15875">
            <a:solidFill>
              <a:srgbClr val="003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Freeform 23"/>
          <p:cNvSpPr/>
          <p:nvPr/>
        </p:nvSpPr>
        <p:spPr>
          <a:xfrm>
            <a:off x="8447836" y="5820904"/>
            <a:ext cx="148133" cy="115215"/>
          </a:xfrm>
          <a:custGeom>
            <a:avLst/>
            <a:gdLst/>
            <a:ahLst/>
            <a:cxnLst/>
            <a:rect l="l" t="t" r="r" b="b"/>
            <a:pathLst>
              <a:path w="148133" h="115215">
                <a:moveTo>
                  <a:pt x="0" y="60351"/>
                </a:moveTo>
                <a:lnTo>
                  <a:pt x="54864" y="115215"/>
                </a:lnTo>
                <a:lnTo>
                  <a:pt x="148133" y="0"/>
                </a:lnTo>
              </a:path>
            </a:pathLst>
          </a:custGeom>
          <a:noFill/>
          <a:ln w="22225">
            <a:solidFill>
              <a:srgbClr val="003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>
        <a:spAutoFit/>
      </a:bodyPr>
      <a:lstStyle>
        <a:defPPr algn="ctr">
          <a:defRPr dirty="0">
            <a:solidFill>
              <a:srgbClr val="2B2B2F"/>
            </a:solidFill>
            <a:effectLst/>
            <a:latin typeface="Noto Sans KR" panose="020B0200000000000000" pitchFamily="34" charset="-128"/>
            <a:ea typeface="Noto Sans KR" panose="020B0200000000000000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4654</TotalTime>
  <Words>858</Words>
  <Application>Microsoft Macintosh PowerPoint</Application>
  <PresentationFormat>와이드스크린</PresentationFormat>
  <Paragraphs>128</Paragraphs>
  <Slides>8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맑은 고딕</vt:lpstr>
      <vt:lpstr>시스템 서체 일반체</vt:lpstr>
      <vt:lpstr>Noto Sans KR</vt:lpstr>
      <vt:lpstr>Noto Sans KR Light</vt:lpstr>
      <vt:lpstr>Noto Sans KR SemiBold</vt:lpstr>
      <vt:lpstr>Arial</vt:lpstr>
      <vt:lpstr>Wingdings</vt:lpstr>
      <vt:lpstr>Office 테마</vt:lpstr>
      <vt:lpstr>데이터 분석 학습을 위한 AI 사용 방법</vt:lpstr>
      <vt:lpstr>AI는 내 판단을 돕는 도구</vt:lpstr>
      <vt:lpstr>효율적인 AI 사용을 위한 필수 설정</vt:lpstr>
      <vt:lpstr>데이터 분석가를 위한 ChatGPT 지침 설정 (1)</vt:lpstr>
      <vt:lpstr>데이터 분석가를 위한 ChatGPT 지침 설정 (2)</vt:lpstr>
      <vt:lpstr>데이터 분석가를 위한 ChatGPT 지침 설정 (3) - 지침 내용</vt:lpstr>
      <vt:lpstr>질문을 잘 던지는 법 — 프롬프트의 핵심 구성요소</vt:lpstr>
      <vt:lpstr>AI가 자주 틀리는 5가지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이광호</dc:creator>
  <cp:lastModifiedBy>이광호</cp:lastModifiedBy>
  <cp:revision>215</cp:revision>
  <dcterms:created xsi:type="dcterms:W3CDTF">2026-02-16T09:48:37Z</dcterms:created>
  <dcterms:modified xsi:type="dcterms:W3CDTF">2026-09-08T22:49:41Z</dcterms:modified>
</cp:coreProperties>
</file>